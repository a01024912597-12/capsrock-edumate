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24384000" cy="13716000"/>
  <p:notesSz cx="6858000" cy="9144000"/>
  <p:embeddedFontLst>
    <p:embeddedFont>
      <p:font typeface="210 Gulim 050" panose="020B0600000101010101" charset="-127"/>
      <p:regular r:id="rId14"/>
    </p:embeddedFont>
    <p:embeddedFont>
      <p:font typeface="210 Gulim 070" panose="020B0600000101010101" charset="-127"/>
      <p:regular r:id="rId15"/>
    </p:embeddedFont>
    <p:embeddedFont>
      <p:font typeface="210 Gulim 090" panose="020B0600000101010101" charset="-127"/>
      <p:regular r:id="rId16"/>
    </p:embeddedFont>
    <p:embeddedFont>
      <p:font typeface="Hakgyoansim Bunpil R" panose="020B0600000101010101" charset="-127"/>
      <p:regular r:id="rId17"/>
    </p:embeddedFont>
    <p:embeddedFont>
      <p:font typeface="맑은 고딕" panose="020B0503020000020004" pitchFamily="50" charset="-127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57EA4C-0F6D-4FA7-A38E-9E7E8596F03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CC1D4-9F3B-4C0D-BBAD-39D019E85B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765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DCC1D4-9F3B-4C0D-BBAD-39D019E85BC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66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15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1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15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58.png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3" Type="http://schemas.openxmlformats.org/officeDocument/2006/relationships/image" Target="../media/image15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" Type="http://schemas.openxmlformats.org/officeDocument/2006/relationships/image" Target="../media/image72.png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1300" y="-38100"/>
            <a:ext cx="25158700" cy="11188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1727200"/>
            <a:ext cx="20764500" cy="925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4826000"/>
            <a:ext cx="12941300" cy="8293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866900" y="4965700"/>
            <a:ext cx="9067800" cy="7874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463" b="0" i="0" u="none" strike="noStrike" dirty="0">
                <a:solidFill>
                  <a:srgbClr val="FFFFFF"/>
                </a:solidFill>
                <a:latin typeface="210 Gulim 070" panose="020B0600000101010101" charset="-127"/>
                <a:ea typeface="210 Gulim 070" panose="020B0600000101010101" charset="-127"/>
                <a:cs typeface="S-Core Dream 4 Regular"/>
              </a:rPr>
              <a:t>AI </a:t>
            </a:r>
            <a:r>
              <a:rPr lang="en-US" sz="4463" b="0" i="0" u="none" strike="noStrike" dirty="0" err="1">
                <a:solidFill>
                  <a:srgbClr val="FFFFFF"/>
                </a:solidFill>
                <a:latin typeface="210 Gulim 070" panose="020B0600000101010101" charset="-127"/>
                <a:ea typeface="210 Gulim 070" panose="020B0600000101010101" charset="-127"/>
                <a:cs typeface="S-Core Dream 4 Regular"/>
              </a:rPr>
              <a:t>기반</a:t>
            </a:r>
            <a:r>
              <a:rPr lang="en-US" sz="4463" b="0" i="0" u="none" strike="noStrike" dirty="0">
                <a:solidFill>
                  <a:srgbClr val="FFFFFF"/>
                </a:solidFill>
                <a:latin typeface="210 Gulim 070" panose="020B0600000101010101" charset="-127"/>
                <a:ea typeface="210 Gulim 070" panose="020B0600000101010101" charset="-127"/>
                <a:cs typeface="S-Core Dream 4 Regular"/>
              </a:rPr>
              <a:t> </a:t>
            </a:r>
            <a:r>
              <a:rPr lang="en-US" sz="4463" b="0" i="0" u="none" strike="noStrike" dirty="0" err="1">
                <a:solidFill>
                  <a:srgbClr val="FFFFFF"/>
                </a:solidFill>
                <a:latin typeface="210 Gulim 070" panose="020B0600000101010101" charset="-127"/>
                <a:ea typeface="210 Gulim 070" panose="020B0600000101010101" charset="-127"/>
                <a:cs typeface="S-Core Dream 4 Regular"/>
              </a:rPr>
              <a:t>학습</a:t>
            </a:r>
            <a:r>
              <a:rPr lang="en-US" sz="4463" b="0" i="0" u="none" strike="noStrike" dirty="0">
                <a:solidFill>
                  <a:srgbClr val="FFFFFF"/>
                </a:solidFill>
                <a:latin typeface="210 Gulim 070" panose="020B0600000101010101" charset="-127"/>
                <a:ea typeface="210 Gulim 070" panose="020B0600000101010101" charset="-127"/>
                <a:cs typeface="S-Core Dream 4 Regular"/>
              </a:rPr>
              <a:t> </a:t>
            </a:r>
            <a:r>
              <a:rPr lang="en-US" sz="4463" b="0" i="0" u="none" strike="noStrike" dirty="0" err="1">
                <a:solidFill>
                  <a:srgbClr val="FFFFFF"/>
                </a:solidFill>
                <a:latin typeface="210 Gulim 070" panose="020B0600000101010101" charset="-127"/>
                <a:ea typeface="210 Gulim 070" panose="020B0600000101010101" charset="-127"/>
                <a:cs typeface="S-Core Dream 4 Regular"/>
              </a:rPr>
              <a:t>분석</a:t>
            </a:r>
            <a:r>
              <a:rPr lang="en-US" sz="4463" b="0" i="0" u="none" strike="noStrike" dirty="0">
                <a:solidFill>
                  <a:srgbClr val="FFFFFF"/>
                </a:solidFill>
                <a:latin typeface="210 Gulim 070" panose="020B0600000101010101" charset="-127"/>
                <a:ea typeface="210 Gulim 070" panose="020B0600000101010101" charset="-127"/>
                <a:cs typeface="S-Core Dream 4 Regular"/>
              </a:rPr>
              <a:t> 및 </a:t>
            </a:r>
            <a:r>
              <a:rPr lang="en-US" sz="4463" b="0" i="0" u="none" strike="noStrike" dirty="0" err="1">
                <a:solidFill>
                  <a:srgbClr val="FFFFFF"/>
                </a:solidFill>
                <a:latin typeface="210 Gulim 070" panose="020B0600000101010101" charset="-127"/>
                <a:ea typeface="210 Gulim 070" panose="020B0600000101010101" charset="-127"/>
                <a:cs typeface="S-Core Dream 4 Regular"/>
              </a:rPr>
              <a:t>지원</a:t>
            </a:r>
            <a:r>
              <a:rPr lang="en-US" sz="4463" b="0" i="0" u="none" strike="noStrike" dirty="0">
                <a:solidFill>
                  <a:srgbClr val="FFFFFF"/>
                </a:solidFill>
                <a:latin typeface="210 Gulim 070" panose="020B0600000101010101" charset="-127"/>
                <a:ea typeface="210 Gulim 070" panose="020B0600000101010101" charset="-127"/>
                <a:cs typeface="S-Core Dream 4 Regular"/>
              </a:rPr>
              <a:t> </a:t>
            </a:r>
            <a:r>
              <a:rPr lang="en-US" sz="4463" b="0" i="0" u="none" strike="noStrike" dirty="0" err="1">
                <a:solidFill>
                  <a:srgbClr val="FFFFFF"/>
                </a:solidFill>
                <a:latin typeface="210 Gulim 070" panose="020B0600000101010101" charset="-127"/>
                <a:ea typeface="210 Gulim 070" panose="020B0600000101010101" charset="-127"/>
                <a:cs typeface="S-Core Dream 4 Regular"/>
              </a:rPr>
              <a:t>시스템</a:t>
            </a:r>
            <a:endParaRPr lang="en-US" sz="4463" b="0" i="0" u="none" strike="noStrike" dirty="0">
              <a:solidFill>
                <a:srgbClr val="FFFFFF"/>
              </a:solidFill>
              <a:latin typeface="210 Gulim 070" panose="020B0600000101010101" charset="-127"/>
              <a:ea typeface="210 Gulim 070" panose="020B0600000101010101" charset="-127"/>
              <a:cs typeface="S-Core Dream 4 Regula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492500" y="1244600"/>
            <a:ext cx="5816600" cy="1041400"/>
          </a:xfrm>
          <a:prstGeom prst="rect">
            <a:avLst/>
          </a:prstGeom>
        </p:spPr>
        <p:txBody>
          <a:bodyPr lIns="0" tIns="461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876" b="0" i="0" u="none" strike="noStrike" cap="all" dirty="0">
                <a:solidFill>
                  <a:srgbClr val="FFFFFF"/>
                </a:solidFill>
                <a:latin typeface="210 Gulim 090"/>
                <a:ea typeface="210 Gulim 090"/>
                <a:cs typeface="210 Gulim 090"/>
              </a:rPr>
              <a:t>팀 </a:t>
            </a:r>
            <a:r>
              <a:rPr lang="en-US" sz="5876" b="0" i="0" u="none" strike="noStrike" cap="all" dirty="0" err="1">
                <a:solidFill>
                  <a:srgbClr val="FFFFFF"/>
                </a:solidFill>
                <a:latin typeface="210 Gulim 090"/>
                <a:ea typeface="210 Gulim 090"/>
                <a:cs typeface="210 Gulim 090"/>
              </a:rPr>
              <a:t>capsrock</a:t>
            </a:r>
            <a:endParaRPr lang="en-US" sz="5876" b="0" i="0" u="none" strike="noStrike" cap="all" dirty="0">
              <a:solidFill>
                <a:srgbClr val="FFFFFF"/>
              </a:solidFill>
              <a:latin typeface="210 Gulim 090"/>
              <a:ea typeface="210 Gulim 090"/>
              <a:cs typeface="210 Gulim 09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06500" y="2451100"/>
            <a:ext cx="10375900" cy="2768600"/>
          </a:xfrm>
          <a:prstGeom prst="rect">
            <a:avLst/>
          </a:prstGeom>
        </p:spPr>
        <p:txBody>
          <a:bodyPr lIns="0" tIns="356616" rIns="0" bIns="0" rtlCol="0" anchor="t"/>
          <a:lstStyle/>
          <a:p>
            <a:pPr lvl="0" algn="ctr">
              <a:lnSpc>
                <a:spcPct val="86320"/>
              </a:lnSpc>
            </a:pPr>
            <a:r>
              <a:rPr lang="en-US" sz="15600" b="0" i="0" u="none" strike="noStrike" cap="all" spc="-300" dirty="0" err="1">
                <a:solidFill>
                  <a:srgbClr val="FFFFFF"/>
                </a:solidFill>
                <a:latin typeface="210 Gulim 090"/>
                <a:ea typeface="210 Gulim 090"/>
                <a:cs typeface="210 Gulim 090"/>
              </a:rPr>
              <a:t>에듀메이트</a:t>
            </a:r>
            <a:endParaRPr lang="en-US" sz="15600" b="0" i="0" u="none" strike="noStrike" cap="all" spc="-300" dirty="0">
              <a:solidFill>
                <a:srgbClr val="FFFFFF"/>
              </a:solidFill>
              <a:latin typeface="210 Gulim 090"/>
              <a:ea typeface="210 Gulim 090"/>
              <a:cs typeface="210 Gulim 090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5372100"/>
            <a:ext cx="5092700" cy="3390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84700" y="5372100"/>
            <a:ext cx="5130800" cy="3390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0" y="8750300"/>
            <a:ext cx="5092700" cy="3187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84700" y="8750300"/>
            <a:ext cx="51308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2900" y="-203200"/>
            <a:ext cx="24726900" cy="416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3000"/>
          </a:blip>
          <a:stretch>
            <a:fillRect/>
          </a:stretch>
        </p:blipFill>
        <p:spPr>
          <a:xfrm rot="5400000">
            <a:off x="12471400" y="-5181600"/>
            <a:ext cx="723900" cy="2057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7000"/>
          </a:blip>
          <a:stretch>
            <a:fillRect/>
          </a:stretch>
        </p:blipFill>
        <p:spPr>
          <a:xfrm rot="5400000">
            <a:off x="12471400" y="-4165600"/>
            <a:ext cx="723900" cy="2057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13000"/>
          </a:blip>
          <a:stretch>
            <a:fillRect/>
          </a:stretch>
        </p:blipFill>
        <p:spPr>
          <a:xfrm rot="5400000">
            <a:off x="12471400" y="-3149600"/>
            <a:ext cx="723900" cy="2057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000"/>
          </a:blip>
          <a:stretch>
            <a:fillRect/>
          </a:stretch>
        </p:blipFill>
        <p:spPr>
          <a:xfrm rot="5400000">
            <a:off x="12471400" y="-2133600"/>
            <a:ext cx="723900" cy="2057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13000"/>
          </a:blip>
          <a:stretch>
            <a:fillRect/>
          </a:stretch>
        </p:blipFill>
        <p:spPr>
          <a:xfrm rot="5400000">
            <a:off x="12471400" y="-1117600"/>
            <a:ext cx="723900" cy="2057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000"/>
          </a:blip>
          <a:stretch>
            <a:fillRect/>
          </a:stretch>
        </p:blipFill>
        <p:spPr>
          <a:xfrm rot="5400000">
            <a:off x="12471400" y="-101600"/>
            <a:ext cx="723900" cy="2057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alphaModFix amt="13000"/>
          </a:blip>
          <a:stretch>
            <a:fillRect/>
          </a:stretch>
        </p:blipFill>
        <p:spPr>
          <a:xfrm rot="5400000">
            <a:off x="12471400" y="914400"/>
            <a:ext cx="723900" cy="20574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590800" y="1244600"/>
            <a:ext cx="19596100" cy="1511300"/>
          </a:xfrm>
          <a:prstGeom prst="rect">
            <a:avLst/>
          </a:prstGeom>
        </p:spPr>
        <p:txBody>
          <a:bodyPr lIns="0" tIns="10837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533" b="0" i="0" u="none" strike="noStrike" dirty="0" err="1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목차</a:t>
            </a:r>
            <a:endParaRPr lang="en-US" sz="8533" b="0" i="0" u="none" strike="noStrike" dirty="0">
              <a:solidFill>
                <a:srgbClr val="FFFFFF"/>
              </a:solidFill>
              <a:latin typeface="210 Gulim 090" panose="020B0600000101010101" charset="-127"/>
              <a:ea typeface="210 Gulim 090" panose="020B0600000101010101" charset="-127"/>
              <a:cs typeface="S-Core Dream 5 Medium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187700" y="4864100"/>
            <a:ext cx="1308100" cy="5080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843" b="0" i="0" u="none" strike="noStrike">
                <a:solidFill>
                  <a:srgbClr val="000000"/>
                </a:solidFill>
                <a:latin typeface="S-Core Dream 5 Medium"/>
                <a:ea typeface="S-Core Dream 5 Medium"/>
                <a:cs typeface="S-Core Dream 5 Medium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87700" y="5880100"/>
            <a:ext cx="1308100" cy="5080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843" b="0" i="0" u="none" strike="noStrike">
                <a:solidFill>
                  <a:srgbClr val="000000"/>
                </a:solidFill>
                <a:latin typeface="S-Core Dream 5 Medium"/>
                <a:ea typeface="S-Core Dream 5 Medium"/>
                <a:cs typeface="S-Core Dream 5 Medium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87700" y="6896100"/>
            <a:ext cx="1308100" cy="5080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843" b="0" i="0" u="none" strike="noStrike">
                <a:solidFill>
                  <a:srgbClr val="000000"/>
                </a:solidFill>
                <a:latin typeface="S-Core Dream 5 Medium"/>
                <a:ea typeface="S-Core Dream 5 Medium"/>
                <a:cs typeface="S-Core Dream 5 Medium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87700" y="7912100"/>
            <a:ext cx="1308100" cy="5080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843" b="0" i="0" u="none" strike="noStrike">
                <a:solidFill>
                  <a:srgbClr val="000000"/>
                </a:solidFill>
                <a:latin typeface="S-Core Dream 5 Medium"/>
                <a:ea typeface="S-Core Dream 5 Medium"/>
                <a:cs typeface="S-Core Dream 5 Medium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87700" y="8928100"/>
            <a:ext cx="1308100" cy="5080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843" b="0" i="0" u="none" strike="noStrike">
                <a:solidFill>
                  <a:srgbClr val="000000"/>
                </a:solidFill>
                <a:latin typeface="S-Core Dream 5 Medium"/>
                <a:ea typeface="S-Core Dream 5 Medium"/>
                <a:cs typeface="S-Core Dream 5 Medium"/>
              </a:rPr>
              <a:t>05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87700" y="9944100"/>
            <a:ext cx="1308100" cy="5080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843" b="0" i="0" u="none" strike="noStrike">
                <a:solidFill>
                  <a:srgbClr val="000000"/>
                </a:solidFill>
                <a:latin typeface="S-Core Dream 5 Medium"/>
                <a:ea typeface="S-Core Dream 5 Medium"/>
                <a:cs typeface="S-Core Dream 5 Medium"/>
              </a:rPr>
              <a:t>06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87700" y="10960100"/>
            <a:ext cx="1308100" cy="5080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843" b="0" i="0" u="none" strike="noStrike">
                <a:solidFill>
                  <a:srgbClr val="000000"/>
                </a:solidFill>
                <a:latin typeface="S-Core Dream 5 Medium"/>
                <a:ea typeface="S-Core Dream 5 Medium"/>
                <a:cs typeface="S-Core Dream 5 Medium"/>
              </a:rPr>
              <a:t>07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86300" y="4876800"/>
            <a:ext cx="183642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96" b="0" i="0" u="none" strike="noStrike" dirty="0" err="1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참여</a:t>
            </a:r>
            <a:r>
              <a:rPr lang="en-US" sz="2896" b="0" i="0" u="none" strike="noStrike" dirty="0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 </a:t>
            </a:r>
            <a:r>
              <a:rPr lang="en-US" sz="2896" b="0" i="0" u="none" strike="noStrike" dirty="0" err="1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인력</a:t>
            </a:r>
            <a:endParaRPr lang="en-US" sz="2896" b="0" i="0" u="none" strike="noStrike" dirty="0">
              <a:solidFill>
                <a:srgbClr val="000000"/>
              </a:solidFill>
              <a:latin typeface="210 Gulim 090"/>
              <a:ea typeface="210 Gulim 090"/>
              <a:cs typeface="210 Gulim 09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686300" y="5892800"/>
            <a:ext cx="183642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96" b="0" i="0" u="none" strike="noStrike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프로젝트 개요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86300" y="6908800"/>
            <a:ext cx="183642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96" b="0" i="0" u="none" strike="noStrike" dirty="0" err="1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개발</a:t>
            </a:r>
            <a:r>
              <a:rPr lang="en-US" sz="2896" b="0" i="0" u="none" strike="noStrike" dirty="0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 </a:t>
            </a:r>
            <a:r>
              <a:rPr lang="en-US" sz="2896" b="0" i="0" u="none" strike="noStrike" dirty="0" err="1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배경</a:t>
            </a:r>
            <a:r>
              <a:rPr lang="en-US" sz="2896" b="0" i="0" u="none" strike="noStrike" dirty="0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 및 </a:t>
            </a:r>
            <a:r>
              <a:rPr lang="en-US" sz="2896" b="0" i="0" u="none" strike="noStrike" dirty="0" err="1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필요성</a:t>
            </a:r>
            <a:endParaRPr lang="en-US" sz="2896" b="0" i="0" u="none" strike="noStrike" dirty="0">
              <a:solidFill>
                <a:srgbClr val="000000"/>
              </a:solidFill>
              <a:latin typeface="210 Gulim 090"/>
              <a:ea typeface="210 Gulim 090"/>
              <a:cs typeface="210 Gulim 09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686300" y="7924800"/>
            <a:ext cx="183642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96" b="0" i="0" u="none" strike="noStrike" dirty="0" err="1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프로젝트</a:t>
            </a:r>
            <a:r>
              <a:rPr lang="en-US" sz="2896" b="0" i="0" u="none" strike="noStrike" dirty="0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 </a:t>
            </a:r>
            <a:r>
              <a:rPr lang="en-US" sz="2896" b="0" i="0" u="none" strike="noStrike" dirty="0" err="1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목표</a:t>
            </a:r>
            <a:r>
              <a:rPr lang="en-US" sz="2896" b="0" i="0" u="none" strike="noStrike" dirty="0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 및 </a:t>
            </a:r>
            <a:r>
              <a:rPr lang="en-US" sz="2896" b="0" i="0" u="none" strike="noStrike" dirty="0" err="1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주요기능</a:t>
            </a:r>
            <a:endParaRPr lang="en-US" sz="2896" b="0" i="0" u="none" strike="noStrike" dirty="0">
              <a:solidFill>
                <a:srgbClr val="000000"/>
              </a:solidFill>
              <a:latin typeface="210 Gulim 090"/>
              <a:ea typeface="210 Gulim 090"/>
              <a:cs typeface="210 Gulim 09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686300" y="8940800"/>
            <a:ext cx="183642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96" b="0" i="0" u="none" strike="noStrike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추진 전략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86300" y="9956800"/>
            <a:ext cx="183642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96" b="0" i="0" u="none" strike="noStrike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기술 스택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86300" y="10985500"/>
            <a:ext cx="183642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96" b="0" i="0" u="none" strike="noStrike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기대 효과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33700" y="50800"/>
            <a:ext cx="8750300" cy="391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00" y="5118100"/>
            <a:ext cx="4191000" cy="5740400"/>
          </a:xfrm>
          <a:prstGeom prst="rect">
            <a:avLst/>
          </a:prstGeom>
          <a:effectLst>
            <a:outerShdw blurRad="104765" dist="257883" dir="3180000">
              <a:srgbClr val="1A2665">
                <a:alpha val="2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280" y="5118100"/>
            <a:ext cx="4191000" cy="5740400"/>
          </a:xfrm>
          <a:prstGeom prst="rect">
            <a:avLst/>
          </a:prstGeom>
          <a:effectLst>
            <a:outerShdw blurRad="104765" dist="257883" dir="3180000">
              <a:srgbClr val="1A2665">
                <a:alpha val="2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1400" y="5118100"/>
            <a:ext cx="4191000" cy="5740400"/>
          </a:xfrm>
          <a:prstGeom prst="rect">
            <a:avLst/>
          </a:prstGeom>
          <a:effectLst>
            <a:outerShdw blurRad="104765" dist="257883" dir="3180000">
              <a:srgbClr val="1A2665">
                <a:alpha val="2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65600" y="5105400"/>
            <a:ext cx="4191000" cy="5753100"/>
          </a:xfrm>
          <a:prstGeom prst="rect">
            <a:avLst/>
          </a:prstGeom>
          <a:effectLst>
            <a:outerShdw blurRad="104765" dist="257883" dir="3180000">
              <a:srgbClr val="1A2665">
                <a:alpha val="2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4300" y="5397500"/>
            <a:ext cx="37465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5800" y="5397500"/>
            <a:ext cx="3746500" cy="825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000" y="5397500"/>
            <a:ext cx="3746500" cy="825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81500" y="5384800"/>
            <a:ext cx="3746500" cy="825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42900" y="-203200"/>
            <a:ext cx="24726900" cy="416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33700" y="50800"/>
            <a:ext cx="8750300" cy="3911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346200" y="1600200"/>
            <a:ext cx="20358100" cy="153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8666" b="0" i="0" u="none" strike="noStrike" spc="-100" dirty="0" err="1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참여</a:t>
            </a:r>
            <a:r>
              <a:rPr lang="en-US" sz="8666" b="0" i="0" u="none" strike="noStrike" spc="-100" dirty="0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 </a:t>
            </a:r>
            <a:r>
              <a:rPr lang="en-US" sz="8666" b="0" i="0" u="none" strike="noStrike" spc="-100" dirty="0" err="1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인력</a:t>
            </a:r>
            <a:endParaRPr lang="en-US" sz="8666" b="0" i="0" u="none" strike="noStrike" spc="-100" dirty="0">
              <a:solidFill>
                <a:srgbClr val="FFFFFF"/>
              </a:solidFill>
              <a:latin typeface="210 Gulim 090" panose="020B0600000101010101" charset="-127"/>
              <a:ea typeface="210 Gulim 090" panose="020B0600000101010101" charset="-127"/>
              <a:cs typeface="S-Core Dream 5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60500" y="1028700"/>
            <a:ext cx="6769100" cy="5715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cap="all" spc="100" dirty="0">
                <a:solidFill>
                  <a:srgbClr val="FFFFFF"/>
                </a:solidFill>
                <a:latin typeface="210 Gulim 090"/>
                <a:ea typeface="210 Gulim 090"/>
                <a:cs typeface="210 Gulim 090"/>
              </a:rPr>
              <a:t>Team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78400" y="5575300"/>
            <a:ext cx="16256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2533" b="0" i="0" u="none" strike="noStrike" cap="all" dirty="0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팀장</a:t>
            </a:r>
            <a:endParaRPr lang="en-US" sz="2533" b="0" i="0" u="none" strike="noStrike" cap="all" dirty="0">
              <a:solidFill>
                <a:srgbClr val="000000"/>
              </a:solidFill>
              <a:latin typeface="210 Gulim 090"/>
              <a:ea typeface="210 Gulim 090"/>
              <a:cs typeface="210 Gulim 09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686300" y="6311900"/>
            <a:ext cx="19304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210 Gulim 070"/>
                <a:ea typeface="210 Gulim 070"/>
                <a:cs typeface="210 Gulim 070"/>
              </a:rPr>
              <a:t>이종혁</a:t>
            </a:r>
            <a:endParaRPr lang="en-US" sz="3066" b="0" i="0" u="none" strike="noStrike" dirty="0">
              <a:solidFill>
                <a:srgbClr val="000000"/>
              </a:solidFill>
              <a:latin typeface="210 Gulim 070"/>
              <a:ea typeface="210 Gulim 070"/>
              <a:cs typeface="210 Gulim 07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203700" y="7137400"/>
            <a:ext cx="3314700" cy="356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 err="1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프로젝트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총괄</a:t>
            </a:r>
            <a:endParaRPr lang="en-US" sz="3333" b="0" i="0" u="none" strike="noStrike" dirty="0">
              <a:solidFill>
                <a:srgbClr val="000000"/>
              </a:solidFill>
              <a:latin typeface="210 Gulim 090"/>
              <a:ea typeface="210 Gulim 090"/>
              <a:cs typeface="210 Gulim 090"/>
            </a:endParaRPr>
          </a:p>
          <a:p>
            <a:pPr marL="342900" lvl="1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 err="1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시스템</a:t>
            </a:r>
            <a:r>
              <a:rPr lang="en-US" sz="3333" b="0" i="0" u="none" strike="noStrike" dirty="0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관리</a:t>
            </a:r>
            <a:r>
              <a:rPr lang="en-US" sz="3333" b="0" i="0" u="none" strike="noStrike" dirty="0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 및 QA</a:t>
            </a:r>
          </a:p>
          <a:p>
            <a:pPr marL="342900" lvl="1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 err="1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데이터베이스</a:t>
            </a:r>
            <a:r>
              <a:rPr lang="en-US" sz="3333" b="0" i="0" u="none" strike="noStrike" dirty="0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관리</a:t>
            </a:r>
            <a:endParaRPr lang="en-US" sz="3333" b="0" i="0" u="none" strike="noStrike" dirty="0">
              <a:solidFill>
                <a:srgbClr val="000000"/>
              </a:solidFill>
              <a:latin typeface="210 Gulim 090"/>
              <a:ea typeface="210 Gulim 090"/>
              <a:cs typeface="210 Gulim 09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877300" y="5575300"/>
            <a:ext cx="26035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533" b="0" i="0" u="none" strike="noStrike" cap="all" dirty="0" err="1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팀원</a:t>
            </a:r>
            <a:endParaRPr lang="en-US" sz="2533" b="0" i="0" u="none" strike="noStrike" cap="all" dirty="0">
              <a:solidFill>
                <a:srgbClr val="000000"/>
              </a:solidFill>
              <a:latin typeface="210 Gulim 090"/>
              <a:ea typeface="210 Gulim 090"/>
              <a:cs typeface="210 Gulim 09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220200" y="6311900"/>
            <a:ext cx="19304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210 Gulim 070"/>
                <a:ea typeface="210 Gulim 070"/>
                <a:cs typeface="210 Gulim 070"/>
              </a:rPr>
              <a:t>이병곤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85200" y="7137400"/>
            <a:ext cx="33147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백엔드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398500" y="5575300"/>
            <a:ext cx="23368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533" b="0" i="0" u="none" strike="noStrike" cap="all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팀원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01700" y="6311900"/>
            <a:ext cx="19304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210 Gulim 070"/>
                <a:ea typeface="210 Gulim 070"/>
                <a:cs typeface="210 Gulim 070"/>
              </a:rPr>
              <a:t>박종준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979400" y="7137400"/>
            <a:ext cx="33147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프론트엔드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640300" y="5562600"/>
            <a:ext cx="26416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533" b="0" i="0" u="none" strike="noStrike" cap="all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팀원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995900" y="6311900"/>
            <a:ext cx="19304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210 Gulim 070"/>
                <a:ea typeface="210 Gulim 070"/>
                <a:cs typeface="210 Gulim 070"/>
              </a:rPr>
              <a:t>백준하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373600" y="7137400"/>
            <a:ext cx="3314700" cy="2082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 err="1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백엔드</a:t>
            </a:r>
            <a:endParaRPr lang="en-US" sz="3333" b="0" i="0" u="none" strike="noStrike" dirty="0">
              <a:solidFill>
                <a:srgbClr val="000000"/>
              </a:solidFill>
              <a:latin typeface="210 Gulim 090"/>
              <a:ea typeface="210 Gulim 090"/>
              <a:cs typeface="210 Gulim 090"/>
            </a:endParaRPr>
          </a:p>
          <a:p>
            <a:pPr marL="342900" lvl="1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0" i="0" u="none" strike="noStrike" dirty="0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AI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모델</a:t>
            </a:r>
            <a:r>
              <a:rPr lang="en-US" sz="3333" b="0" i="0" u="none" strike="noStrike" dirty="0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설계</a:t>
            </a:r>
            <a:r>
              <a:rPr lang="en-US" sz="3333" b="0" i="0" u="none" strike="noStrike" dirty="0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 및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학습</a:t>
            </a:r>
            <a:endParaRPr lang="en-US" sz="3333" b="0" i="0" u="none" strike="noStrike" dirty="0">
              <a:solidFill>
                <a:srgbClr val="000000"/>
              </a:solidFill>
              <a:latin typeface="210 Gulim 090"/>
              <a:ea typeface="210 Gulim 090"/>
              <a:cs typeface="210 Gulim 09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2900" y="-203200"/>
            <a:ext cx="24726900" cy="416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3700" y="50800"/>
            <a:ext cx="8750300" cy="3911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346200" y="1600200"/>
            <a:ext cx="18300700" cy="153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8666" b="0" i="0" u="none" strike="noStrike" spc="-100" dirty="0" err="1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프로젝트</a:t>
            </a:r>
            <a:r>
              <a:rPr lang="en-US" sz="8666" b="0" i="0" u="none" strike="noStrike" spc="-100" dirty="0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 </a:t>
            </a:r>
            <a:r>
              <a:rPr lang="en-US" sz="8666" b="0" i="0" u="none" strike="noStrike" spc="-100" dirty="0" err="1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개요</a:t>
            </a:r>
            <a:endParaRPr lang="en-US" sz="8666" b="0" i="0" u="none" strike="noStrike" spc="-100" dirty="0">
              <a:solidFill>
                <a:srgbClr val="FFFFFF"/>
              </a:solidFill>
              <a:latin typeface="210 Gulim 090" panose="020B0600000101010101" charset="-127"/>
              <a:ea typeface="210 Gulim 090" panose="020B0600000101010101" charset="-127"/>
              <a:cs typeface="S-Core Dream 5 Medium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61000"/>
            <a:ext cx="11404600" cy="5562600"/>
          </a:xfrm>
          <a:prstGeom prst="rect">
            <a:avLst/>
          </a:prstGeom>
          <a:effectLst>
            <a:outerShdw blurRad="222269" dist="128232" dir="3180000">
              <a:srgbClr val="1A2665">
                <a:alpha val="2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019800"/>
            <a:ext cx="10502900" cy="1371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39800" y="7988300"/>
            <a:ext cx="10083800" cy="153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45250"/>
              </a:lnSpc>
            </a:pPr>
            <a:r>
              <a:rPr lang="en-US" sz="3839" b="0" i="0" u="none" strike="noStrike">
                <a:solidFill>
                  <a:srgbClr val="2C2C2C"/>
                </a:solidFill>
                <a:latin typeface="210 Gulim 090"/>
                <a:ea typeface="210 Gulim 090"/>
                <a:cs typeface="210 Gulim 090"/>
              </a:rPr>
              <a:t>강의 영상 및 자료를 분석하여 학습 상태를</a:t>
            </a:r>
          </a:p>
          <a:p>
            <a:pPr lvl="0" algn="just">
              <a:lnSpc>
                <a:spcPct val="145250"/>
              </a:lnSpc>
            </a:pPr>
            <a:r>
              <a:rPr lang="en-US" sz="3839" b="0" i="0" u="none" strike="noStrike">
                <a:solidFill>
                  <a:srgbClr val="2C2C2C"/>
                </a:solidFill>
                <a:latin typeface="210 Gulim 090"/>
                <a:ea typeface="210 Gulim 090"/>
                <a:cs typeface="210 Gulim 090"/>
              </a:rPr>
              <a:t>파악하고 맞춤형 피드백을 제공하는 AI 시스템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97200" y="6413500"/>
            <a:ext cx="5435600" cy="647700"/>
          </a:xfrm>
          <a:prstGeom prst="rect">
            <a:avLst/>
          </a:prstGeom>
        </p:spPr>
        <p:txBody>
          <a:bodyPr lIns="0" tIns="4607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627" b="0" i="0" u="none" strike="noStrike" cap="all" spc="100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정의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79400" y="5422900"/>
            <a:ext cx="11404600" cy="5562600"/>
          </a:xfrm>
          <a:prstGeom prst="rect">
            <a:avLst/>
          </a:prstGeom>
          <a:effectLst>
            <a:outerShdw blurRad="222269" dist="128232" dir="3180000">
              <a:srgbClr val="1A2665">
                <a:alpha val="20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23900" y="5981700"/>
            <a:ext cx="10502900" cy="1371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919200" y="7962900"/>
            <a:ext cx="10083800" cy="153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45250"/>
              </a:lnSpc>
            </a:pPr>
            <a:r>
              <a:rPr lang="en-US" sz="3839" b="0" i="0" u="none" strike="noStrike">
                <a:solidFill>
                  <a:srgbClr val="2C2C2C"/>
                </a:solidFill>
                <a:latin typeface="210 Gulim 090"/>
                <a:ea typeface="210 Gulim 090"/>
                <a:cs typeface="210 Gulim 090"/>
              </a:rPr>
              <a:t>학생: 학습 상태의 객관적 확인 및 보완</a:t>
            </a:r>
          </a:p>
          <a:p>
            <a:pPr lvl="0" algn="just">
              <a:lnSpc>
                <a:spcPct val="145250"/>
              </a:lnSpc>
            </a:pPr>
            <a:r>
              <a:rPr lang="en-US" sz="3839" b="0" i="0" u="none" strike="noStrike">
                <a:solidFill>
                  <a:srgbClr val="2C2C2C"/>
                </a:solidFill>
                <a:latin typeface="210 Gulim 090"/>
                <a:ea typeface="210 Gulim 090"/>
                <a:cs typeface="210 Gulim 090"/>
              </a:rPr>
              <a:t>강의자: 데이터 기반의 효과적인 수업 운영 지원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976600" y="6388100"/>
            <a:ext cx="5397500" cy="647700"/>
          </a:xfrm>
          <a:prstGeom prst="rect">
            <a:avLst/>
          </a:prstGeom>
        </p:spPr>
        <p:txBody>
          <a:bodyPr lIns="0" tIns="4607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627" b="0" i="0" u="none" strike="noStrike" cap="all" spc="100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핵심 가치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84000" y="7988300"/>
            <a:ext cx="1003300" cy="647700"/>
          </a:xfrm>
          <a:prstGeom prst="rect">
            <a:avLst/>
          </a:prstGeom>
        </p:spPr>
        <p:txBody>
          <a:bodyPr lIns="0" tIns="4607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627" b="0" i="0" u="none" strike="noStrike" cap="all" spc="100">
                <a:solidFill>
                  <a:srgbClr val="000000"/>
                </a:solidFill>
                <a:latin typeface="210 Gulim 090"/>
                <a:ea typeface="210 Gulim 090"/>
                <a:cs typeface="210 Gulim 090"/>
              </a:rPr>
              <a:t>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2900" y="-203200"/>
            <a:ext cx="24726900" cy="416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3700" y="50800"/>
            <a:ext cx="8750300" cy="391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5080000"/>
            <a:ext cx="6870700" cy="7289800"/>
          </a:xfrm>
          <a:prstGeom prst="rect">
            <a:avLst/>
          </a:prstGeom>
          <a:effectLst>
            <a:outerShdw blurRad="274814" dist="158547" dir="3180000">
              <a:srgbClr val="1A2665">
                <a:alpha val="2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900" y="5435600"/>
            <a:ext cx="6172200" cy="1016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700" y="5080000"/>
            <a:ext cx="6870700" cy="7289800"/>
          </a:xfrm>
          <a:prstGeom prst="rect">
            <a:avLst/>
          </a:prstGeom>
          <a:effectLst>
            <a:outerShdw blurRad="274814" dist="158547" dir="3180000">
              <a:srgbClr val="1A2665">
                <a:alpha val="2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600" y="5435600"/>
            <a:ext cx="6172200" cy="1016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03600" y="5080000"/>
            <a:ext cx="6870700" cy="7289800"/>
          </a:xfrm>
          <a:prstGeom prst="rect">
            <a:avLst/>
          </a:prstGeom>
          <a:effectLst>
            <a:outerShdw blurRad="274814" dist="158547" dir="3180000">
              <a:srgbClr val="1A2665">
                <a:alpha val="2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46500" y="5435600"/>
            <a:ext cx="6172200" cy="1016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46200" y="1600200"/>
            <a:ext cx="18300700" cy="153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8666" b="0" i="0" u="none" strike="noStrike" spc="-100" dirty="0" err="1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개발</a:t>
            </a:r>
            <a:r>
              <a:rPr lang="en-US" sz="8666" b="0" i="0" u="none" strike="noStrike" spc="-100" dirty="0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 </a:t>
            </a:r>
            <a:r>
              <a:rPr lang="en-US" sz="8666" b="0" i="0" u="none" strike="noStrike" spc="-100" dirty="0" err="1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배경</a:t>
            </a:r>
            <a:r>
              <a:rPr lang="en-US" sz="8666" b="0" i="0" u="none" strike="noStrike" spc="-100" dirty="0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 및 </a:t>
            </a:r>
            <a:r>
              <a:rPr lang="en-US" sz="8666" b="0" i="0" u="none" strike="noStrike" spc="-100" dirty="0" err="1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필요성</a:t>
            </a:r>
            <a:endParaRPr lang="en-US" sz="8666" b="0" i="0" u="none" strike="noStrike" spc="-100" dirty="0">
              <a:solidFill>
                <a:srgbClr val="FFFFFF"/>
              </a:solidFill>
              <a:latin typeface="210 Gulim 090" panose="020B0600000101010101" charset="-127"/>
              <a:ea typeface="210 Gulim 090" panose="020B0600000101010101" charset="-127"/>
              <a:cs typeface="S-Core Dream 5 Medium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629900" y="5664200"/>
            <a:ext cx="31242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46" b="0" i="0" u="none" strike="noStrike" cap="all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문제점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07500" y="7162800"/>
            <a:ext cx="5956300" cy="412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5250"/>
              </a:lnSpc>
            </a:pP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1.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방대한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학습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자료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중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핵심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내용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파악의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어려움</a:t>
            </a:r>
            <a:endParaRPr lang="en-US" sz="3200" b="0" i="0" u="none" strike="noStrike" dirty="0">
              <a:solidFill>
                <a:srgbClr val="2C2C2C"/>
              </a:solidFill>
              <a:latin typeface="210 Gulim 070"/>
              <a:ea typeface="210 Gulim 070"/>
              <a:cs typeface="210 Gulim 070"/>
            </a:endParaRPr>
          </a:p>
          <a:p>
            <a:pPr lvl="0" algn="ctr">
              <a:lnSpc>
                <a:spcPct val="145250"/>
              </a:lnSpc>
            </a:pP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2. 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강의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영상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내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특정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내용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재검색에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과도한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시간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소요</a:t>
            </a:r>
            <a:endParaRPr lang="en-US" sz="3200" b="0" i="0" u="none" strike="noStrike" dirty="0">
              <a:solidFill>
                <a:srgbClr val="2C2C2C"/>
              </a:solidFill>
              <a:latin typeface="210 Gulim 070"/>
              <a:ea typeface="210 Gulim 070"/>
              <a:cs typeface="210 Gulim 070"/>
            </a:endParaRPr>
          </a:p>
          <a:p>
            <a:pPr lvl="0" algn="ctr">
              <a:lnSpc>
                <a:spcPct val="145250"/>
              </a:lnSpc>
            </a:pP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3. 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학생의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실제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이해도를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파악할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분석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기능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부족</a:t>
            </a:r>
            <a:endParaRPr lang="en-US" sz="3200" b="0" i="0" u="none" strike="noStrike" dirty="0">
              <a:solidFill>
                <a:srgbClr val="2C2C2C"/>
              </a:solidFill>
              <a:latin typeface="210 Gulim 070"/>
              <a:ea typeface="210 Gulim 070"/>
              <a:cs typeface="210 Gulim 07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276600" y="5664200"/>
            <a:ext cx="31242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46" b="0" i="0" u="none" strike="noStrike" cap="all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현황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41500" y="7162800"/>
            <a:ext cx="5994400" cy="314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5250"/>
              </a:lnSpc>
            </a:pPr>
            <a:r>
              <a:rPr lang="en-US" sz="3732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최근</a:t>
            </a:r>
            <a:r>
              <a:rPr lang="en-US" sz="3732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732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온라인</a:t>
            </a:r>
            <a:r>
              <a:rPr lang="en-US" sz="3732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732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강의와</a:t>
            </a:r>
            <a:r>
              <a:rPr lang="en-US" sz="3732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732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디지털</a:t>
            </a:r>
            <a:r>
              <a:rPr lang="en-US" sz="3732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732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학습</a:t>
            </a:r>
            <a:r>
              <a:rPr lang="en-US" sz="3732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732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환경이</a:t>
            </a:r>
            <a:r>
              <a:rPr lang="en-US" sz="3732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732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확대되면서</a:t>
            </a:r>
            <a:r>
              <a:rPr lang="en-US" sz="3732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732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학생들은</a:t>
            </a:r>
            <a:r>
              <a:rPr lang="en-US" sz="3732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732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다양한</a:t>
            </a:r>
            <a:r>
              <a:rPr lang="en-US" sz="3732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732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강의</a:t>
            </a:r>
            <a:r>
              <a:rPr lang="en-US" sz="3732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732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자료와</a:t>
            </a:r>
            <a:r>
              <a:rPr lang="en-US" sz="3732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732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학습</a:t>
            </a:r>
            <a:r>
              <a:rPr lang="en-US" sz="3732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732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콘텐츠를</a:t>
            </a:r>
            <a:r>
              <a:rPr lang="en-US" sz="3732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732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접하고</a:t>
            </a:r>
            <a:r>
              <a:rPr lang="en-US" sz="3732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732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있다</a:t>
            </a:r>
            <a:endParaRPr lang="en-US" sz="3732" b="0" i="0" u="none" strike="noStrike" dirty="0">
              <a:solidFill>
                <a:srgbClr val="2C2C2C"/>
              </a:solidFill>
              <a:latin typeface="210 Gulim 070"/>
              <a:ea typeface="210 Gulim 070"/>
              <a:cs typeface="210 Gulim 07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970500" y="5664200"/>
            <a:ext cx="31242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46" b="0" i="0" u="none" strike="noStrike" cap="all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해결책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030700" y="7162800"/>
            <a:ext cx="50165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5250"/>
              </a:lnSpc>
            </a:pP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학습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데이터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분석을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통한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AI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기반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학습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분석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시스템</a:t>
            </a:r>
            <a:r>
              <a:rPr lang="en-US" sz="3200" b="0" i="0" u="none" strike="noStrike" dirty="0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 </a:t>
            </a:r>
            <a:r>
              <a:rPr lang="en-US" sz="3200" b="0" i="0" u="none" strike="noStrike" dirty="0" err="1">
                <a:solidFill>
                  <a:srgbClr val="2C2C2C"/>
                </a:solidFill>
                <a:latin typeface="210 Gulim 070"/>
                <a:ea typeface="210 Gulim 070"/>
                <a:cs typeface="210 Gulim 070"/>
              </a:rPr>
              <a:t>도입</a:t>
            </a:r>
            <a:endParaRPr lang="en-US" sz="3200" b="0" i="0" u="none" strike="noStrike" dirty="0">
              <a:solidFill>
                <a:srgbClr val="2C2C2C"/>
              </a:solidFill>
              <a:latin typeface="210 Gulim 070"/>
              <a:ea typeface="210 Gulim 070"/>
              <a:cs typeface="210 Gulim 07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2900" y="-203200"/>
            <a:ext cx="24726900" cy="3175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3700" y="50800"/>
            <a:ext cx="8750300" cy="2921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500" y="4165600"/>
            <a:ext cx="5054600" cy="7289800"/>
          </a:xfrm>
          <a:prstGeom prst="rect">
            <a:avLst/>
          </a:prstGeom>
          <a:effectLst>
            <a:outerShdw blurRad="202275" dist="116697" dir="3180000">
              <a:srgbClr val="1A2665">
                <a:alpha val="2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5300" y="4457700"/>
            <a:ext cx="4470400" cy="1028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4200" y="4165600"/>
            <a:ext cx="5054600" cy="7289800"/>
          </a:xfrm>
          <a:prstGeom prst="rect">
            <a:avLst/>
          </a:prstGeom>
          <a:effectLst>
            <a:outerShdw blurRad="202275" dist="116697" dir="3180000">
              <a:srgbClr val="1A2665">
                <a:alpha val="2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6300" y="4457700"/>
            <a:ext cx="4470400" cy="1028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95200" y="4165600"/>
            <a:ext cx="5054600" cy="7289800"/>
          </a:xfrm>
          <a:prstGeom prst="rect">
            <a:avLst/>
          </a:prstGeom>
          <a:effectLst>
            <a:outerShdw blurRad="202275" dist="116697" dir="3180000">
              <a:srgbClr val="1A2665">
                <a:alpha val="2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7300" y="4457700"/>
            <a:ext cx="4470400" cy="1028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56200" y="4140200"/>
            <a:ext cx="5054600" cy="7289800"/>
          </a:xfrm>
          <a:prstGeom prst="rect">
            <a:avLst/>
          </a:prstGeom>
          <a:effectLst>
            <a:outerShdw blurRad="202275" dist="116697" dir="3180000">
              <a:srgbClr val="1A2665">
                <a:alpha val="20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61000" y="4445000"/>
            <a:ext cx="4470400" cy="1028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76900" y="4851400"/>
            <a:ext cx="139700" cy="25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76000" y="4851400"/>
            <a:ext cx="139700" cy="254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37000" y="4851400"/>
            <a:ext cx="139700" cy="254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110700" y="4851400"/>
            <a:ext cx="139700" cy="254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200400" y="11912600"/>
            <a:ext cx="1814830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4666" b="0" i="0" u="none" strike="noStrike" spc="-100" dirty="0" err="1">
                <a:solidFill>
                  <a:srgbClr val="568A35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최종</a:t>
            </a:r>
            <a:r>
              <a:rPr lang="en-US" sz="4666" b="0" i="0" u="none" strike="noStrike" spc="-100" dirty="0">
                <a:solidFill>
                  <a:srgbClr val="568A35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 </a:t>
            </a:r>
            <a:r>
              <a:rPr lang="en-US" sz="4666" b="0" i="0" u="none" strike="noStrike" spc="-100" dirty="0" err="1">
                <a:solidFill>
                  <a:srgbClr val="568A35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목표</a:t>
            </a:r>
            <a:r>
              <a:rPr lang="en-US" sz="4666" b="0" i="0" u="none" strike="noStrike" spc="-100" dirty="0">
                <a:solidFill>
                  <a:srgbClr val="568A35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 : </a:t>
            </a:r>
            <a:r>
              <a:rPr lang="en-US" sz="4666" b="0" i="0" u="none" strike="noStrike" spc="-100" dirty="0" err="1">
                <a:solidFill>
                  <a:srgbClr val="568A35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효율적인</a:t>
            </a:r>
            <a:r>
              <a:rPr lang="en-US" sz="4666" b="0" i="0" u="none" strike="noStrike" spc="-100" dirty="0">
                <a:solidFill>
                  <a:srgbClr val="568A35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 </a:t>
            </a:r>
            <a:r>
              <a:rPr lang="en-US" sz="4666" b="0" i="0" u="none" strike="noStrike" spc="-100" dirty="0" err="1">
                <a:solidFill>
                  <a:srgbClr val="568A35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학습을</a:t>
            </a:r>
            <a:r>
              <a:rPr lang="en-US" sz="4666" b="0" i="0" u="none" strike="noStrike" spc="-100" dirty="0">
                <a:solidFill>
                  <a:srgbClr val="568A35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 </a:t>
            </a:r>
            <a:r>
              <a:rPr lang="en-US" sz="4666" b="0" i="0" u="none" strike="noStrike" spc="-100" dirty="0" err="1">
                <a:solidFill>
                  <a:srgbClr val="568A35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지원하는</a:t>
            </a:r>
            <a:r>
              <a:rPr lang="en-US" sz="4666" b="0" i="0" u="none" strike="noStrike" spc="-100" dirty="0">
                <a:solidFill>
                  <a:srgbClr val="568A35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 웹 </a:t>
            </a:r>
            <a:r>
              <a:rPr lang="en-US" sz="4666" b="0" i="0" u="none" strike="noStrike" spc="-100" dirty="0" err="1">
                <a:solidFill>
                  <a:srgbClr val="568A35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기반</a:t>
            </a:r>
            <a:r>
              <a:rPr lang="en-US" sz="4666" b="0" i="0" u="none" strike="noStrike" spc="-100" dirty="0">
                <a:solidFill>
                  <a:srgbClr val="568A35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 AI </a:t>
            </a:r>
            <a:r>
              <a:rPr lang="en-US" sz="4666" b="0" i="0" u="none" strike="noStrike" spc="-100" dirty="0" err="1">
                <a:solidFill>
                  <a:srgbClr val="568A35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학습</a:t>
            </a:r>
            <a:r>
              <a:rPr lang="en-US" sz="4666" b="0" i="0" u="none" strike="noStrike" spc="-100" dirty="0">
                <a:solidFill>
                  <a:srgbClr val="568A35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 </a:t>
            </a:r>
            <a:r>
              <a:rPr lang="en-US" sz="4666" b="0" i="0" u="none" strike="noStrike" spc="-100" dirty="0" err="1">
                <a:solidFill>
                  <a:srgbClr val="568A35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분석</a:t>
            </a:r>
            <a:r>
              <a:rPr lang="en-US" sz="4666" b="0" i="0" u="none" strike="noStrike" spc="-100" dirty="0">
                <a:solidFill>
                  <a:srgbClr val="568A35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 </a:t>
            </a:r>
            <a:r>
              <a:rPr lang="en-US" sz="4666" b="0" i="0" u="none" strike="noStrike" spc="-100" dirty="0" err="1">
                <a:solidFill>
                  <a:srgbClr val="568A35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시스템</a:t>
            </a:r>
            <a:r>
              <a:rPr lang="en-US" sz="4666" b="0" i="0" u="none" strike="noStrike" spc="-100" dirty="0">
                <a:solidFill>
                  <a:srgbClr val="568A35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 </a:t>
            </a:r>
            <a:r>
              <a:rPr lang="en-US" sz="4666" b="0" i="0" u="none" strike="noStrike" spc="-100" dirty="0" err="1">
                <a:solidFill>
                  <a:srgbClr val="568A35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구축</a:t>
            </a:r>
            <a:endParaRPr lang="en-US" sz="4666" b="0" i="0" u="none" strike="noStrike" spc="-100" dirty="0">
              <a:solidFill>
                <a:srgbClr val="568A35"/>
              </a:solidFill>
              <a:latin typeface="210 Gulim 070" panose="020B0600000101010101" charset="-127"/>
              <a:ea typeface="210 Gulim 070" panose="020B0600000101010101" charset="-127"/>
              <a:cs typeface="S-Core Dream 5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336800" y="1130300"/>
            <a:ext cx="8915400" cy="9779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5466" b="0" i="0" u="none" strike="noStrike" cap="all" spc="200" dirty="0" err="1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ADLaM Display" panose="020F0502020204030204" pitchFamily="2" charset="0"/>
              </a:rPr>
              <a:t>주요</a:t>
            </a:r>
            <a:r>
              <a:rPr lang="en-US" sz="5466" b="0" i="0" u="none" strike="noStrike" cap="all" spc="200" dirty="0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ADLaM Display" panose="020F0502020204030204" pitchFamily="2" charset="0"/>
              </a:rPr>
              <a:t> </a:t>
            </a:r>
            <a:r>
              <a:rPr lang="en-US" sz="5466" b="0" i="0" u="none" strike="noStrike" cap="all" spc="200" dirty="0" err="1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ADLaM Display" panose="020F0502020204030204" pitchFamily="2" charset="0"/>
              </a:rPr>
              <a:t>기능</a:t>
            </a:r>
            <a:r>
              <a:rPr lang="en-US" sz="5466" b="0" i="0" u="none" strike="noStrike" cap="all" spc="200" dirty="0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ADLaM Display" panose="020F0502020204030204" pitchFamily="2" charset="0"/>
              </a:rPr>
              <a:t> 및 </a:t>
            </a:r>
            <a:r>
              <a:rPr lang="en-US" sz="5466" b="0" i="0" u="none" strike="noStrike" cap="all" spc="200" dirty="0" err="1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ADLaM Display" panose="020F0502020204030204" pitchFamily="2" charset="0"/>
              </a:rPr>
              <a:t>프로젝트</a:t>
            </a:r>
            <a:r>
              <a:rPr lang="en-US" sz="5466" b="0" i="0" u="none" strike="noStrike" cap="all" spc="200" dirty="0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ADLaM Display" panose="020F0502020204030204" pitchFamily="2" charset="0"/>
              </a:rPr>
              <a:t> </a:t>
            </a:r>
            <a:r>
              <a:rPr lang="en-US" sz="5466" b="0" i="0" u="none" strike="noStrike" cap="all" spc="200" dirty="0" err="1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ADLaM Display" panose="020F0502020204030204" pitchFamily="2" charset="0"/>
              </a:rPr>
              <a:t>목표</a:t>
            </a:r>
            <a:endParaRPr lang="en-US" sz="5466" b="0" i="0" u="none" strike="noStrike" cap="all" spc="200" dirty="0">
              <a:solidFill>
                <a:srgbClr val="FFFFFF"/>
              </a:solidFill>
              <a:latin typeface="210 Gulim 090" panose="020B0600000101010101" charset="-127"/>
              <a:ea typeface="210 Gulim 090" panose="020B0600000101010101" charset="-127"/>
              <a:cs typeface="ADLaM Display" panose="020F0502020204030204" pitchFamily="2" charset="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425700" y="4724400"/>
            <a:ext cx="31242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46" b="0" i="0" u="none" strike="noStrike" cap="all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function 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57400" y="7251700"/>
            <a:ext cx="3873500" cy="194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333" b="0" i="0" u="none" strike="noStrike" dirty="0" err="1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업로드된</a:t>
            </a:r>
            <a:r>
              <a:rPr lang="en-US" sz="3333" b="0" i="0" u="none" strike="noStrike" dirty="0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 </a:t>
            </a:r>
            <a:r>
              <a:rPr lang="en-US" sz="3333" b="0" i="0" u="none" strike="noStrike" dirty="0" err="1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강의</a:t>
            </a:r>
            <a:r>
              <a:rPr lang="en-US" sz="3333" b="0" i="0" u="none" strike="noStrike" dirty="0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 </a:t>
            </a:r>
            <a:r>
              <a:rPr lang="en-US" sz="3333" b="0" i="0" u="none" strike="noStrike" dirty="0" err="1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자료</a:t>
            </a:r>
            <a:r>
              <a:rPr lang="en-US" sz="3333" b="0" i="0" u="none" strike="noStrike" dirty="0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 </a:t>
            </a:r>
            <a:r>
              <a:rPr lang="en-US" sz="3333" b="0" i="0" u="none" strike="noStrike" dirty="0" err="1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또는</a:t>
            </a:r>
            <a:r>
              <a:rPr lang="en-US" sz="3333" b="0" i="0" u="none" strike="noStrike" dirty="0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 </a:t>
            </a:r>
            <a:r>
              <a:rPr lang="en-US" sz="3333" b="0" i="0" u="none" strike="noStrike" dirty="0" err="1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강의</a:t>
            </a:r>
            <a:r>
              <a:rPr lang="en-US" sz="3333" b="0" i="0" u="none" strike="noStrike" dirty="0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 </a:t>
            </a:r>
            <a:r>
              <a:rPr lang="en-US" sz="3333" b="0" i="0" u="none" strike="noStrike" dirty="0" err="1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영상에서</a:t>
            </a:r>
            <a:r>
              <a:rPr lang="en-US" sz="3333" b="0" i="0" u="none" strike="noStrike" dirty="0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 </a:t>
            </a:r>
            <a:r>
              <a:rPr lang="en-US" sz="3333" b="0" i="0" u="none" strike="noStrike" dirty="0" err="1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핵심</a:t>
            </a:r>
            <a:r>
              <a:rPr lang="en-US" sz="3333" b="0" i="0" u="none" strike="noStrike" dirty="0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 </a:t>
            </a:r>
            <a:r>
              <a:rPr lang="en-US" sz="3333" b="0" i="0" u="none" strike="noStrike" dirty="0" err="1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자료</a:t>
            </a:r>
            <a:r>
              <a:rPr lang="en-US" sz="3333" b="0" i="0" u="none" strike="noStrike" dirty="0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 </a:t>
            </a:r>
            <a:r>
              <a:rPr lang="en-US" sz="3333" b="0" i="0" u="none" strike="noStrike" dirty="0" err="1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추출</a:t>
            </a:r>
            <a:endParaRPr lang="en-US" sz="3333" b="0" i="0" u="none" strike="noStrike" dirty="0">
              <a:solidFill>
                <a:srgbClr val="595959"/>
              </a:solidFill>
              <a:latin typeface="210 Gulim 070" panose="020B0600000101010101" charset="-127"/>
              <a:ea typeface="210 Gulim 070" panose="020B0600000101010101" charset="-127"/>
              <a:cs typeface="S-Core Dream 6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879600" y="6019800"/>
            <a:ext cx="42291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5329"/>
              </a:lnSpc>
            </a:pPr>
            <a:r>
              <a:rPr lang="en-US" sz="3333" b="0" i="0" u="none" strike="noStrike" spc="-100" dirty="0" err="1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강의</a:t>
            </a:r>
            <a:r>
              <a:rPr lang="en-US" sz="3333" b="0" i="0" u="none" strike="noStrike" spc="-100" dirty="0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 </a:t>
            </a:r>
            <a:r>
              <a:rPr lang="en-US" sz="3333" b="0" i="0" u="none" strike="noStrike" spc="-100" dirty="0" err="1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자료</a:t>
            </a:r>
            <a:r>
              <a:rPr lang="en-US" sz="3333" b="0" i="0" u="none" strike="noStrike" spc="-100" dirty="0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 및 </a:t>
            </a:r>
            <a:r>
              <a:rPr lang="en-US" sz="3333" b="0" i="0" u="none" strike="noStrike" spc="-100" dirty="0" err="1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영상</a:t>
            </a:r>
            <a:r>
              <a:rPr lang="en-US" sz="3333" b="0" i="0" u="none" strike="noStrike" spc="-100" dirty="0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 </a:t>
            </a:r>
            <a:r>
              <a:rPr lang="en-US" sz="3333" b="0" i="0" u="none" strike="noStrike" spc="-100" dirty="0" err="1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분석</a:t>
            </a:r>
            <a:endParaRPr lang="en-US" sz="3333" b="0" i="0" u="none" strike="noStrike" spc="-100" dirty="0">
              <a:solidFill>
                <a:srgbClr val="000000"/>
              </a:solidFill>
              <a:latin typeface="210 Gulim 070" panose="020B0600000101010101" charset="-127"/>
              <a:ea typeface="210 Gulim 070" panose="020B0600000101010101" charset="-127"/>
              <a:cs typeface="S-Core Dream 5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051800" y="4724400"/>
            <a:ext cx="28194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46" b="0" i="0" u="none" strike="noStrike" cap="all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function 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45400" y="7251700"/>
            <a:ext cx="3848100" cy="127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333" b="0" i="0" u="none" strike="noStrike" dirty="0" err="1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인공지능을</a:t>
            </a:r>
            <a:r>
              <a:rPr lang="en-US" sz="3333" b="0" i="0" u="none" strike="noStrike" dirty="0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 </a:t>
            </a:r>
            <a:r>
              <a:rPr lang="en-US" sz="3333" b="0" i="0" u="none" strike="noStrike" dirty="0" err="1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활용한</a:t>
            </a:r>
            <a:r>
              <a:rPr lang="en-US" sz="3333" b="0" i="0" u="none" strike="noStrike" dirty="0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 </a:t>
            </a:r>
            <a:r>
              <a:rPr lang="en-US" sz="3333" b="0" i="0" u="none" strike="noStrike" dirty="0" err="1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강의</a:t>
            </a:r>
            <a:r>
              <a:rPr lang="en-US" sz="3333" b="0" i="0" u="none" strike="noStrike" dirty="0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 </a:t>
            </a:r>
            <a:r>
              <a:rPr lang="en-US" sz="3333" b="0" i="0" u="none" strike="noStrike" dirty="0" err="1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내용</a:t>
            </a:r>
            <a:r>
              <a:rPr lang="en-US" sz="3333" b="0" i="0" u="none" strike="noStrike" dirty="0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 </a:t>
            </a:r>
            <a:r>
              <a:rPr lang="en-US" sz="3333" b="0" i="0" u="none" strike="noStrike" dirty="0" err="1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요약</a:t>
            </a:r>
            <a:r>
              <a:rPr lang="en-US" sz="3333" b="0" i="0" u="none" strike="noStrike" dirty="0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 </a:t>
            </a:r>
            <a:r>
              <a:rPr lang="en-US" sz="3333" b="0" i="0" u="none" strike="noStrike" dirty="0" err="1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제공</a:t>
            </a:r>
            <a:endParaRPr lang="en-US" sz="3333" b="0" i="0" u="none" strike="noStrike" dirty="0">
              <a:solidFill>
                <a:srgbClr val="595959"/>
              </a:solidFill>
              <a:latin typeface="210 Gulim 070" panose="020B0600000101010101" charset="-127"/>
              <a:ea typeface="210 Gulim 070" panose="020B0600000101010101" charset="-127"/>
              <a:cs typeface="S-Core Dream 6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823200" y="5930900"/>
            <a:ext cx="32766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5329"/>
              </a:lnSpc>
            </a:pPr>
            <a:r>
              <a:rPr lang="en-US" sz="3333" b="0" i="0" u="none" strike="noStrike" spc="-100" dirty="0" err="1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자동</a:t>
            </a:r>
            <a:r>
              <a:rPr lang="en-US" sz="3333" b="0" i="0" u="none" strike="noStrike" spc="-100" dirty="0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 </a:t>
            </a:r>
            <a:r>
              <a:rPr lang="en-US" sz="3333" b="0" i="0" u="none" strike="noStrike" spc="-100" dirty="0" err="1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요약</a:t>
            </a:r>
            <a:r>
              <a:rPr lang="en-US" sz="3333" b="0" i="0" u="none" strike="noStrike" spc="-100" dirty="0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 </a:t>
            </a:r>
            <a:r>
              <a:rPr lang="en-US" sz="3333" b="0" i="0" u="none" strike="noStrike" spc="-100" dirty="0" err="1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생성</a:t>
            </a:r>
            <a:endParaRPr lang="en-US" sz="3333" b="0" i="0" u="none" strike="noStrike" spc="-100" dirty="0">
              <a:solidFill>
                <a:srgbClr val="000000"/>
              </a:solidFill>
              <a:latin typeface="210 Gulim 070" panose="020B0600000101010101" charset="-127"/>
              <a:ea typeface="210 Gulim 070" panose="020B0600000101010101" charset="-127"/>
              <a:cs typeface="S-Core Dream 5 Mediu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360400" y="4724400"/>
            <a:ext cx="31242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46" b="0" i="0" u="none" strike="noStrike" cap="all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function 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055600" y="7200900"/>
            <a:ext cx="3848100" cy="194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333" b="0" i="0" u="none" strike="noStrike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사용자 수준별 맞춤형 시험 문제 자동 출제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284200" y="5930900"/>
            <a:ext cx="32766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5329"/>
              </a:lnSpc>
            </a:pPr>
            <a:r>
              <a:rPr lang="en-US" sz="3333" b="0" i="0" u="none" strike="noStrike" spc="-100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예상 문제 생성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821400" y="4699000"/>
            <a:ext cx="31242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046" b="0" i="0" u="none" strike="noStrike" cap="all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function 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465800" y="7251700"/>
            <a:ext cx="3848100" cy="194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333" b="0" i="0" u="none" strike="noStrike">
                <a:solidFill>
                  <a:srgbClr val="595959"/>
                </a:solidFill>
                <a:latin typeface="210 Gulim 070" panose="020B0600000101010101" charset="-127"/>
                <a:ea typeface="210 Gulim 070" panose="020B0600000101010101" charset="-127"/>
                <a:cs typeface="S-Core Dream 6 Bold"/>
              </a:rPr>
              <a:t>오답 분석을 통한 취약 개념 파악 및 추가 자료 제공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669000" y="5930900"/>
            <a:ext cx="32766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5329"/>
              </a:lnSpc>
            </a:pPr>
            <a:r>
              <a:rPr lang="en-US" sz="3333" b="0" i="0" u="none" strike="noStrike" spc="-100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학습 피드백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11500" y="3149600"/>
            <a:ext cx="1814830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4666" b="1" i="0" u="none" strike="noStrike" spc="-100" dirty="0" err="1">
                <a:solidFill>
                  <a:srgbClr val="568A35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주요</a:t>
            </a:r>
            <a:r>
              <a:rPr lang="en-US" sz="4666" b="1" i="0" u="none" strike="noStrike" spc="-100" dirty="0">
                <a:solidFill>
                  <a:srgbClr val="568A35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 </a:t>
            </a:r>
            <a:r>
              <a:rPr lang="en-US" sz="4666" b="1" i="0" u="none" strike="noStrike" spc="-100" dirty="0" err="1">
                <a:solidFill>
                  <a:srgbClr val="568A35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기능</a:t>
            </a:r>
            <a:endParaRPr lang="en-US" sz="4666" b="1" i="0" u="none" strike="noStrike" spc="-100" dirty="0">
              <a:solidFill>
                <a:srgbClr val="568A35"/>
              </a:solidFill>
              <a:latin typeface="210 Gulim 090" panose="020B0600000101010101" charset="-127"/>
              <a:ea typeface="210 Gulim 090" panose="020B0600000101010101" charset="-127"/>
              <a:cs typeface="S-Core Dream 5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2900" y="-203200"/>
            <a:ext cx="24726900" cy="416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3700" y="50800"/>
            <a:ext cx="8750300" cy="3911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870200" y="1244600"/>
            <a:ext cx="6121400" cy="153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8666" b="0" i="0" u="none" strike="noStrike" spc="-100" dirty="0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추진전략-1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78600" y="4889500"/>
            <a:ext cx="11442700" cy="952500"/>
          </a:xfrm>
          <a:prstGeom prst="rect">
            <a:avLst/>
          </a:prstGeom>
        </p:spPr>
        <p:txBody>
          <a:bodyPr lIns="0" tIns="6773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5333" b="0" i="0" u="none" strike="noStrike" cap="all" spc="200" dirty="0" err="1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개발</a:t>
            </a:r>
            <a:r>
              <a:rPr lang="en-US" sz="5333" b="0" i="0" u="none" strike="noStrike" cap="all" spc="200" dirty="0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 </a:t>
            </a:r>
            <a:r>
              <a:rPr lang="en-US" sz="5333" b="0" i="0" u="none" strike="noStrike" cap="all" spc="200" dirty="0" err="1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방법론</a:t>
            </a:r>
            <a:r>
              <a:rPr lang="en-US" sz="5333" b="0" i="0" u="none" strike="noStrike" cap="all" spc="200" dirty="0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 : </a:t>
            </a:r>
            <a:r>
              <a:rPr lang="en-US" sz="5333" b="0" i="0" u="none" strike="noStrike" cap="all" spc="200" dirty="0" err="1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애자일</a:t>
            </a:r>
            <a:r>
              <a:rPr lang="en-US" sz="5333" b="0" i="0" u="none" strike="noStrike" cap="all" spc="200" dirty="0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(Agile) </a:t>
            </a:r>
            <a:r>
              <a:rPr lang="en-US" sz="5333" b="0" i="0" u="none" strike="noStrike" cap="all" spc="200" dirty="0" err="1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방법론</a:t>
            </a:r>
            <a:endParaRPr lang="en-US" sz="5333" b="0" i="0" u="none" strike="noStrike" cap="all" spc="200" dirty="0">
              <a:solidFill>
                <a:srgbClr val="568A35"/>
              </a:solidFill>
              <a:latin typeface="210 Gulim 090"/>
              <a:ea typeface="210 Gulim 090"/>
              <a:cs typeface="210 Gulim 090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6769100"/>
            <a:ext cx="14236700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0200" y="-203200"/>
            <a:ext cx="24726900" cy="416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3700" y="50800"/>
            <a:ext cx="8750300" cy="391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200" y="8128000"/>
            <a:ext cx="4356100" cy="2171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197100" y="1104900"/>
            <a:ext cx="18300700" cy="153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8666" b="0" i="0" u="none" strike="noStrike" spc="-100" dirty="0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추진전략-2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6700" y="6134100"/>
            <a:ext cx="3975100" cy="3975100"/>
          </a:xfrm>
          <a:prstGeom prst="rect">
            <a:avLst/>
          </a:prstGeom>
          <a:effectLst>
            <a:outerShdw blurRad="159072" dist="91772" dir="3180000">
              <a:srgbClr val="1A2665">
                <a:alpha val="2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4700" y="6134100"/>
            <a:ext cx="3975100" cy="3975100"/>
          </a:xfrm>
          <a:prstGeom prst="rect">
            <a:avLst/>
          </a:prstGeom>
          <a:effectLst>
            <a:outerShdw blurRad="159072" dist="91772" dir="3180000">
              <a:srgbClr val="1A2665">
                <a:alpha val="20000"/>
              </a:srgbClr>
            </a:outerShdw>
          </a:effectLst>
        </p:spPr>
      </p:pic>
      <p:sp>
        <p:nvSpPr>
          <p:cNvPr id="8" name="TextBox 8"/>
          <p:cNvSpPr txBox="1"/>
          <p:nvPr/>
        </p:nvSpPr>
        <p:spPr>
          <a:xfrm>
            <a:off x="6197600" y="10909300"/>
            <a:ext cx="3289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3630"/>
              </a:lnSpc>
            </a:pPr>
            <a:r>
              <a:rPr lang="en-US" sz="3333" b="0" i="0" u="none" strike="noStrike" spc="-100" dirty="0" err="1">
                <a:solidFill>
                  <a:srgbClr val="000000"/>
                </a:solidFill>
                <a:latin typeface="210 Gulim 090" panose="020B0600000101010101" charset="-127"/>
                <a:ea typeface="210 Gulim 090" panose="020B0600000101010101" charset="-127"/>
                <a:cs typeface="210 Gulim 050"/>
              </a:rPr>
              <a:t>시스템</a:t>
            </a:r>
            <a:r>
              <a:rPr lang="en-US" sz="3333" b="0" i="0" u="none" strike="noStrike" spc="-100" dirty="0">
                <a:solidFill>
                  <a:srgbClr val="000000"/>
                </a:solidFill>
                <a:latin typeface="210 Gulim 090" panose="020B0600000101010101" charset="-127"/>
                <a:ea typeface="210 Gulim 090" panose="020B0600000101010101" charset="-127"/>
                <a:cs typeface="210 Gulim 050"/>
              </a:rPr>
              <a:t> </a:t>
            </a:r>
            <a:r>
              <a:rPr lang="en-US" sz="3333" b="0" i="0" u="none" strike="noStrike" spc="-100" dirty="0" err="1">
                <a:solidFill>
                  <a:srgbClr val="000000"/>
                </a:solidFill>
                <a:latin typeface="210 Gulim 090" panose="020B0600000101010101" charset="-127"/>
                <a:ea typeface="210 Gulim 090" panose="020B0600000101010101" charset="-127"/>
                <a:cs typeface="210 Gulim 050"/>
              </a:rPr>
              <a:t>설계</a:t>
            </a:r>
            <a:endParaRPr lang="en-US" sz="3333" b="0" i="0" u="none" strike="noStrike" spc="-100" dirty="0">
              <a:solidFill>
                <a:srgbClr val="000000"/>
              </a:solidFill>
              <a:latin typeface="210 Gulim 090" panose="020B0600000101010101" charset="-127"/>
              <a:ea typeface="210 Gulim 090" panose="020B0600000101010101" charset="-127"/>
              <a:cs typeface="210 Gulim 050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2700" y="6134100"/>
            <a:ext cx="3975100" cy="3975100"/>
          </a:xfrm>
          <a:prstGeom prst="rect">
            <a:avLst/>
          </a:prstGeom>
          <a:effectLst>
            <a:outerShdw blurRad="159072" dist="91772" dir="3180000">
              <a:srgbClr val="1A2665">
                <a:alpha val="20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90700" y="6134100"/>
            <a:ext cx="3975100" cy="3975100"/>
          </a:xfrm>
          <a:prstGeom prst="rect">
            <a:avLst/>
          </a:prstGeom>
          <a:effectLst>
            <a:outerShdw blurRad="159072" dist="91772" dir="3180000">
              <a:srgbClr val="1A2665">
                <a:alpha val="20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4200" y="5943600"/>
            <a:ext cx="4356100" cy="2171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94900" y="8128000"/>
            <a:ext cx="4356100" cy="2171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12900" y="5943600"/>
            <a:ext cx="4356100" cy="2171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630900" y="8128000"/>
            <a:ext cx="4356100" cy="2171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808700" y="6134100"/>
            <a:ext cx="3975100" cy="3975100"/>
          </a:xfrm>
          <a:prstGeom prst="rect">
            <a:avLst/>
          </a:prstGeom>
          <a:effectLst>
            <a:outerShdw blurRad="159072" dist="91772" dir="3180000">
              <a:srgbClr val="1A2665">
                <a:alpha val="20000"/>
              </a:srgbClr>
            </a:outerShdw>
          </a:effectLst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0800000">
            <a:off x="3416300" y="10718800"/>
            <a:ext cx="203200" cy="177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97100" y="6807200"/>
            <a:ext cx="2667000" cy="2667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553700" y="10909300"/>
            <a:ext cx="3289300" cy="127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3630"/>
              </a:lnSpc>
            </a:pPr>
            <a:r>
              <a:rPr lang="en-US" sz="3333" b="0" i="0" u="none" strike="noStrike" spc="-100">
                <a:solidFill>
                  <a:srgbClr val="000000"/>
                </a:solidFill>
                <a:latin typeface="210 Gulim 090" panose="020B0600000101010101" charset="-127"/>
                <a:ea typeface="210 Gulim 090" panose="020B0600000101010101" charset="-127"/>
                <a:cs typeface="210 Gulim 050"/>
              </a:rPr>
              <a:t>AI 모델 개발</a:t>
            </a:r>
          </a:p>
          <a:p>
            <a:pPr lvl="0" algn="ctr">
              <a:lnSpc>
                <a:spcPct val="133630"/>
              </a:lnSpc>
            </a:pPr>
            <a:r>
              <a:rPr lang="en-US" sz="3333" b="0" i="0" u="none" strike="noStrike" spc="-100">
                <a:solidFill>
                  <a:srgbClr val="000000"/>
                </a:solidFill>
                <a:latin typeface="210 Gulim 090" panose="020B0600000101010101" charset="-127"/>
                <a:ea typeface="210 Gulim 090" panose="020B0600000101010101" charset="-127"/>
                <a:cs typeface="210 Gulim 050"/>
              </a:rPr>
              <a:t>웹 UI 구현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91300" y="7848600"/>
            <a:ext cx="25146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333" b="0" i="0" u="none" strike="noStrike" cap="all" dirty="0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Design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934700" y="7848600"/>
            <a:ext cx="25146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333" b="0" i="0" u="none" strike="noStrike" cap="all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build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227300" y="7848600"/>
            <a:ext cx="25146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333" b="0" i="0" u="none" strike="noStrike" cap="all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test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846300" y="10909300"/>
            <a:ext cx="3289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3630"/>
              </a:lnSpc>
            </a:pPr>
            <a:r>
              <a:rPr lang="en-US" sz="3333" b="0" i="0" u="none" strike="noStrike" spc="-100">
                <a:solidFill>
                  <a:srgbClr val="000000"/>
                </a:solidFill>
                <a:latin typeface="210 Gulim 090" panose="020B0600000101010101" charset="-127"/>
                <a:ea typeface="210 Gulim 090" panose="020B0600000101010101" charset="-127"/>
                <a:cs typeface="210 Gulim 050"/>
              </a:rPr>
              <a:t>테스트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392900" y="10909300"/>
            <a:ext cx="28321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3630"/>
              </a:lnSpc>
            </a:pPr>
            <a:r>
              <a:rPr lang="en-US" sz="3333" b="0" i="0" u="none" strike="noStrike" spc="-100">
                <a:solidFill>
                  <a:srgbClr val="000000"/>
                </a:solidFill>
                <a:latin typeface="210 Gulim 090" panose="020B0600000101010101" charset="-127"/>
                <a:ea typeface="210 Gulim 090" panose="020B0600000101010101" charset="-127"/>
                <a:cs typeface="210 Gulim 050"/>
              </a:rPr>
              <a:t>개선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01800" y="11188700"/>
            <a:ext cx="36576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5329"/>
              </a:lnSpc>
            </a:pPr>
            <a:r>
              <a:rPr lang="en-US" sz="3733" b="0" i="0" u="none" strike="noStrike" spc="-100" dirty="0" err="1">
                <a:solidFill>
                  <a:srgbClr val="456E2A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추진</a:t>
            </a:r>
            <a:r>
              <a:rPr lang="en-US" sz="3733" b="0" i="0" u="none" strike="noStrike" spc="-100" dirty="0">
                <a:solidFill>
                  <a:srgbClr val="456E2A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 </a:t>
            </a:r>
            <a:r>
              <a:rPr lang="en-US" sz="3733" b="0" i="0" u="none" strike="noStrike" spc="-100" dirty="0" err="1">
                <a:solidFill>
                  <a:srgbClr val="456E2A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단계</a:t>
            </a:r>
            <a:endParaRPr lang="en-US" sz="3733" b="0" i="0" u="none" strike="noStrike" spc="-100" dirty="0">
              <a:solidFill>
                <a:srgbClr val="456E2A"/>
              </a:solidFill>
              <a:latin typeface="210 Gulim 090" panose="020B0600000101010101" charset="-127"/>
              <a:ea typeface="210 Gulim 090" panose="020B0600000101010101" charset="-127"/>
              <a:cs typeface="S-Core Dream 5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9545300" y="7848600"/>
            <a:ext cx="25146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333" b="0" i="0" u="none" strike="noStrike" cap="all">
                <a:solidFill>
                  <a:srgbClr val="FFFFFF"/>
                </a:solidFill>
                <a:latin typeface="210 Gulim 090"/>
                <a:ea typeface="210 Gulim 090"/>
                <a:cs typeface="210 Gulim 090"/>
              </a:rPr>
              <a:t>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2900" y="-76200"/>
            <a:ext cx="24726900" cy="416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3700" y="50800"/>
            <a:ext cx="8750300" cy="4038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866900" y="1244600"/>
            <a:ext cx="5181600" cy="153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8666" b="0" i="0" u="none" strike="noStrike" spc="-100" dirty="0" err="1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기술</a:t>
            </a:r>
            <a:r>
              <a:rPr lang="en-US" sz="8666" b="0" i="0" u="none" strike="noStrike" spc="-100" dirty="0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 </a:t>
            </a:r>
            <a:r>
              <a:rPr lang="en-US" sz="8666" b="0" i="0" u="none" strike="noStrike" spc="-100" dirty="0" err="1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스택</a:t>
            </a:r>
            <a:endParaRPr lang="en-US" sz="8666" b="0" i="0" u="none" strike="noStrike" spc="-100" dirty="0">
              <a:solidFill>
                <a:srgbClr val="FFFFFF"/>
              </a:solidFill>
              <a:latin typeface="210 Gulim 090" panose="020B0600000101010101" charset="-127"/>
              <a:ea typeface="210 Gulim 090" panose="020B0600000101010101" charset="-127"/>
              <a:cs typeface="S-Core Dream 5 Medium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5473700"/>
            <a:ext cx="6870700" cy="7124700"/>
          </a:xfrm>
          <a:prstGeom prst="rect">
            <a:avLst/>
          </a:prstGeom>
          <a:effectLst>
            <a:outerShdw blurRad="274814" dist="158547" dir="3180000">
              <a:srgbClr val="1A2665">
                <a:alpha val="2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3600" y="5473700"/>
            <a:ext cx="6870700" cy="7124700"/>
          </a:xfrm>
          <a:prstGeom prst="rect">
            <a:avLst/>
          </a:prstGeom>
          <a:effectLst>
            <a:outerShdw blurRad="274814" dist="158547" dir="3180000">
              <a:srgbClr val="1A2665">
                <a:alpha val="2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700" y="5473700"/>
            <a:ext cx="6870700" cy="7124700"/>
          </a:xfrm>
          <a:prstGeom prst="rect">
            <a:avLst/>
          </a:prstGeom>
          <a:effectLst>
            <a:outerShdw blurRad="274814" dist="158547" dir="3180000">
              <a:srgbClr val="1A2665">
                <a:alpha val="2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0400" y="9626600"/>
            <a:ext cx="5829300" cy="10922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857500" y="9867900"/>
            <a:ext cx="3975100" cy="4953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Django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0400" y="8305800"/>
            <a:ext cx="5829300" cy="1092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857500" y="8547100"/>
            <a:ext cx="3975100" cy="4953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Python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0400" y="10922000"/>
            <a:ext cx="5829300" cy="1092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6200" y="4800600"/>
            <a:ext cx="1917700" cy="1917700"/>
          </a:xfrm>
          <a:prstGeom prst="rect">
            <a:avLst/>
          </a:prstGeom>
          <a:effectLst>
            <a:outerShdw blurRad="76736" dist="44271" dir="3180000">
              <a:srgbClr val="1A2665">
                <a:alpha val="20000"/>
              </a:srgbClr>
            </a:outerShdw>
          </a:effectLst>
        </p:spPr>
      </p:pic>
      <p:sp>
        <p:nvSpPr>
          <p:cNvPr id="14" name="TextBox 14"/>
          <p:cNvSpPr txBox="1"/>
          <p:nvPr/>
        </p:nvSpPr>
        <p:spPr>
          <a:xfrm>
            <a:off x="2857500" y="11163300"/>
            <a:ext cx="3975100" cy="4953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HTML/CSS/JS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94000" y="7162800"/>
            <a:ext cx="40005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466" b="0" i="0" u="none" strike="noStrike" cap="all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언어 및 프레임 워크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3700" y="9626600"/>
            <a:ext cx="5829300" cy="10922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0210800" y="9880600"/>
            <a:ext cx="3975100" cy="4953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799" b="0" i="0" u="none" strike="noStrike" dirty="0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GitHub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3700" y="8305800"/>
            <a:ext cx="5829300" cy="10922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0210800" y="8559800"/>
            <a:ext cx="3975100" cy="4953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799" b="0" i="0" u="none" strike="noStrike" dirty="0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Oracle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3700" y="10922000"/>
            <a:ext cx="5829300" cy="1092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26800" y="4800600"/>
            <a:ext cx="1917700" cy="1917700"/>
          </a:xfrm>
          <a:prstGeom prst="rect">
            <a:avLst/>
          </a:prstGeom>
          <a:effectLst>
            <a:outerShdw blurRad="76736" dist="44271" dir="3180000">
              <a:srgbClr val="1A2665">
                <a:alpha val="20000"/>
              </a:srgbClr>
            </a:outerShdw>
          </a:effectLst>
        </p:spPr>
      </p:pic>
      <p:sp>
        <p:nvSpPr>
          <p:cNvPr id="22" name="TextBox 22"/>
          <p:cNvSpPr txBox="1"/>
          <p:nvPr/>
        </p:nvSpPr>
        <p:spPr>
          <a:xfrm>
            <a:off x="10210800" y="11176000"/>
            <a:ext cx="3975100" cy="4953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799" b="0" i="0" u="none" strike="noStrike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PyCharm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34600" y="7162800"/>
            <a:ext cx="40005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466" b="0" i="0" u="none" strike="noStrike" cap="all" dirty="0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database 및 </a:t>
            </a:r>
            <a:r>
              <a:rPr lang="en-US" sz="3466" b="0" i="0" u="none" strike="noStrike" cap="all" dirty="0" err="1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도구</a:t>
            </a:r>
            <a:endParaRPr lang="en-US" sz="3466" b="0" i="0" u="none" strike="noStrike" cap="all" dirty="0">
              <a:solidFill>
                <a:srgbClr val="568A35"/>
              </a:solidFill>
              <a:latin typeface="210 Gulim 090"/>
              <a:ea typeface="210 Gulim 090"/>
              <a:cs typeface="210 Gulim 090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24300" y="9626600"/>
            <a:ext cx="5829300" cy="10922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7056100" y="9880600"/>
            <a:ext cx="4965700" cy="9271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799" b="0" i="0" u="none" strike="noStrike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Transformers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24300" y="8305800"/>
            <a:ext cx="5829300" cy="10922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6776700" y="8559800"/>
            <a:ext cx="5524500" cy="4953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799" b="0" i="0" u="none" strike="noStrike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PyTorch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624300" y="10922000"/>
            <a:ext cx="5829300" cy="1092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580100" y="4800600"/>
            <a:ext cx="1917700" cy="1917700"/>
          </a:xfrm>
          <a:prstGeom prst="rect">
            <a:avLst/>
          </a:prstGeom>
          <a:effectLst>
            <a:outerShdw blurRad="76736" dist="44271" dir="3180000">
              <a:srgbClr val="1A2665">
                <a:alpha val="20000"/>
              </a:srgbClr>
            </a:outerShdw>
          </a:effectLst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82400" y="5156200"/>
            <a:ext cx="1219200" cy="1219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2300" y="5245100"/>
            <a:ext cx="825500" cy="10414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17081500" y="11176000"/>
            <a:ext cx="4914900" cy="9271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799" b="0" i="0" u="none" strike="noStrike">
                <a:solidFill>
                  <a:srgbClr val="000000"/>
                </a:solidFill>
                <a:latin typeface="210 Gulim 070" panose="020B0600000101010101" charset="-127"/>
                <a:ea typeface="210 Gulim 070" panose="020B0600000101010101" charset="-127"/>
                <a:cs typeface="S-Core Dream 5 Medium"/>
              </a:rPr>
              <a:t>Sentence Transformers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598900" y="7162800"/>
            <a:ext cx="57658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466" b="0" i="0" u="none" strike="noStrike" cap="all" dirty="0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AI </a:t>
            </a:r>
            <a:r>
              <a:rPr lang="en-US" sz="3466" b="0" i="0" u="none" strike="noStrike" cap="all" dirty="0" err="1">
                <a:solidFill>
                  <a:srgbClr val="568A35"/>
                </a:solidFill>
                <a:latin typeface="210 Gulim 090"/>
                <a:ea typeface="210 Gulim 090"/>
                <a:cs typeface="210 Gulim 090"/>
              </a:rPr>
              <a:t>기술</a:t>
            </a:r>
            <a:endParaRPr lang="en-US" sz="3466" b="0" i="0" u="none" strike="noStrike" cap="all" dirty="0">
              <a:solidFill>
                <a:srgbClr val="568A35"/>
              </a:solidFill>
              <a:latin typeface="210 Gulim 090"/>
              <a:ea typeface="210 Gulim 090"/>
              <a:cs typeface="210 Gulim 090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973800" y="5207000"/>
            <a:ext cx="1130300" cy="1130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2900" y="-203200"/>
            <a:ext cx="24726900" cy="4165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3700" y="50800"/>
            <a:ext cx="8750300" cy="3911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562100" y="1104900"/>
            <a:ext cx="4978400" cy="153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8666" b="0" i="0" u="none" strike="noStrike" spc="-100" dirty="0" err="1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기대</a:t>
            </a:r>
            <a:r>
              <a:rPr lang="en-US" sz="8666" b="0" i="0" u="none" strike="noStrike" spc="-100" dirty="0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 </a:t>
            </a:r>
            <a:r>
              <a:rPr lang="en-US" sz="8666" b="0" i="0" u="none" strike="noStrike" spc="-100" dirty="0" err="1">
                <a:solidFill>
                  <a:srgbClr val="FFFFFF"/>
                </a:solidFill>
                <a:latin typeface="210 Gulim 090" panose="020B0600000101010101" charset="-127"/>
                <a:ea typeface="210 Gulim 090" panose="020B0600000101010101" charset="-127"/>
                <a:cs typeface="S-Core Dream 5 Medium"/>
              </a:rPr>
              <a:t>효과</a:t>
            </a:r>
            <a:endParaRPr lang="en-US" sz="8666" b="0" i="0" u="none" strike="noStrike" spc="-100" dirty="0">
              <a:solidFill>
                <a:srgbClr val="FFFFFF"/>
              </a:solidFill>
              <a:latin typeface="210 Gulim 090" panose="020B0600000101010101" charset="-127"/>
              <a:ea typeface="210 Gulim 090" panose="020B0600000101010101" charset="-127"/>
              <a:cs typeface="S-Core Dream 5 Medium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900" y="6591300"/>
            <a:ext cx="5207000" cy="6273800"/>
          </a:xfrm>
          <a:prstGeom prst="rect">
            <a:avLst/>
          </a:prstGeom>
          <a:effectLst>
            <a:outerShdw blurRad="208353" dist="120204" dir="3180000">
              <a:srgbClr val="1A2665">
                <a:alpha val="2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200" y="9893300"/>
            <a:ext cx="2425700" cy="275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6900" y="10706100"/>
            <a:ext cx="1130300" cy="1130300"/>
          </a:xfrm>
          <a:prstGeom prst="rect">
            <a:avLst/>
          </a:prstGeom>
          <a:effectLst>
            <a:outerShdw blurRad="56784" dist="87360" dir="3180000">
              <a:srgbClr val="1A2665">
                <a:alpha val="2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7000" y="6870700"/>
            <a:ext cx="4622800" cy="914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819400" y="8153400"/>
            <a:ext cx="436880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5329"/>
              </a:lnSpc>
            </a:pPr>
            <a:r>
              <a:rPr lang="en-US" sz="3072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자기주도</a:t>
            </a:r>
            <a:r>
              <a:rPr lang="en-US" sz="3072" b="0" i="0" u="none" strike="noStrike" spc="-100" dirty="0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 </a:t>
            </a:r>
            <a:r>
              <a:rPr lang="en-US" sz="3072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학습</a:t>
            </a:r>
            <a:r>
              <a:rPr lang="en-US" sz="3072" b="0" i="0" u="none" strike="noStrike" spc="-100" dirty="0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 </a:t>
            </a:r>
            <a:r>
              <a:rPr lang="en-US" sz="3072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능력</a:t>
            </a:r>
            <a:r>
              <a:rPr lang="en-US" sz="3072" b="0" i="0" u="none" strike="noStrike" spc="-100" dirty="0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 </a:t>
            </a:r>
            <a:r>
              <a:rPr lang="en-US" sz="3072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향상</a:t>
            </a:r>
            <a:r>
              <a:rPr lang="en-US" sz="3072" b="0" i="0" u="none" strike="noStrike" spc="-100" dirty="0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 및 </a:t>
            </a:r>
            <a:r>
              <a:rPr lang="en-US" sz="3072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학습</a:t>
            </a:r>
            <a:r>
              <a:rPr lang="en-US" sz="3072" b="0" i="0" u="none" strike="noStrike" spc="-100" dirty="0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 </a:t>
            </a:r>
            <a:r>
              <a:rPr lang="en-US" sz="3072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시간</a:t>
            </a:r>
            <a:r>
              <a:rPr lang="en-US" sz="3072" b="0" i="0" u="none" strike="noStrike" spc="-100" dirty="0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 </a:t>
            </a:r>
            <a:r>
              <a:rPr lang="en-US" sz="3072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효율화</a:t>
            </a:r>
            <a:endParaRPr lang="en-US" sz="3072" b="0" i="0" u="none" strike="noStrike" spc="-100" dirty="0">
              <a:solidFill>
                <a:srgbClr val="456E2A"/>
              </a:solidFill>
              <a:latin typeface="210 Gulim 050" panose="020B0600000101010101" charset="-127"/>
              <a:ea typeface="210 Gulim 050" panose="020B0600000101010101" charset="-127"/>
              <a:cs typeface="S-Core Dream 5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276600" y="7112000"/>
            <a:ext cx="33909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441" b="1" i="0" u="none" strike="noStrike" spc="-200" dirty="0" err="1">
                <a:solidFill>
                  <a:srgbClr val="000000"/>
                </a:solidFill>
                <a:latin typeface="210 Gulim 050" panose="020B0600000101010101" charset="-127"/>
                <a:ea typeface="210 Gulim 050" panose="020B0600000101010101" charset="-127"/>
                <a:cs typeface="S-Core Dream 4 Regular"/>
              </a:rPr>
              <a:t>학생</a:t>
            </a:r>
            <a:r>
              <a:rPr lang="en-US" sz="2441" b="1" i="0" u="none" strike="noStrike" spc="-200" dirty="0">
                <a:solidFill>
                  <a:srgbClr val="000000"/>
                </a:solidFill>
                <a:latin typeface="210 Gulim 050" panose="020B0600000101010101" charset="-127"/>
                <a:ea typeface="210 Gulim 050" panose="020B0600000101010101" charset="-127"/>
                <a:cs typeface="S-Core Dream 4 Regular"/>
              </a:rPr>
              <a:t> </a:t>
            </a:r>
            <a:r>
              <a:rPr lang="en-US" sz="2441" b="1" i="0" u="none" strike="noStrike" spc="-200" dirty="0" err="1">
                <a:solidFill>
                  <a:srgbClr val="000000"/>
                </a:solidFill>
                <a:latin typeface="210 Gulim 050" panose="020B0600000101010101" charset="-127"/>
                <a:ea typeface="210 Gulim 050" panose="020B0600000101010101" charset="-127"/>
                <a:cs typeface="S-Core Dream 4 Regular"/>
              </a:rPr>
              <a:t>측면</a:t>
            </a:r>
            <a:endParaRPr lang="en-US" sz="2441" b="1" i="0" u="none" strike="noStrike" spc="-200" dirty="0">
              <a:solidFill>
                <a:srgbClr val="000000"/>
              </a:solidFill>
              <a:latin typeface="210 Gulim 050" panose="020B0600000101010101" charset="-127"/>
              <a:ea typeface="210 Gulim 050" panose="020B0600000101010101" charset="-127"/>
              <a:cs typeface="S-Core Dream 4 Regular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6200" y="4699000"/>
            <a:ext cx="21628100" cy="1447800"/>
          </a:xfrm>
          <a:prstGeom prst="rect">
            <a:avLst/>
          </a:prstGeom>
          <a:effectLst>
            <a:outerShdw blurRad="58095" dist="111721" dir="3180000">
              <a:srgbClr val="1A2665">
                <a:alpha val="15000"/>
              </a:srgbClr>
            </a:outerShdw>
          </a:effectLst>
        </p:spPr>
      </p:pic>
      <p:sp>
        <p:nvSpPr>
          <p:cNvPr id="12" name="TextBox 12"/>
          <p:cNvSpPr txBox="1"/>
          <p:nvPr/>
        </p:nvSpPr>
        <p:spPr>
          <a:xfrm>
            <a:off x="3517900" y="5118100"/>
            <a:ext cx="17348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00" b="0" i="0" u="none" strike="noStrike" spc="-100" dirty="0" err="1">
                <a:solidFill>
                  <a:srgbClr val="000000"/>
                </a:solidFill>
                <a:latin typeface="210 Gulim 090" panose="020B0600000101010101" charset="-127"/>
                <a:ea typeface="210 Gulim 090" panose="020B0600000101010101" charset="-127"/>
                <a:cs typeface="S-Core Dream 4 Regular"/>
              </a:rPr>
              <a:t>프로젝트의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210 Gulim 090" panose="020B0600000101010101" charset="-127"/>
                <a:ea typeface="210 Gulim 090" panose="020B0600000101010101" charset="-127"/>
                <a:cs typeface="S-Core Dream 4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210 Gulim 090" panose="020B0600000101010101" charset="-127"/>
                <a:ea typeface="210 Gulim 090" panose="020B0600000101010101" charset="-127"/>
                <a:cs typeface="S-Core Dream 4 Regular"/>
              </a:rPr>
              <a:t>기대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210 Gulim 090" panose="020B0600000101010101" charset="-127"/>
                <a:ea typeface="210 Gulim 090" panose="020B0600000101010101" charset="-127"/>
                <a:cs typeface="S-Core Dream 4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210 Gulim 090" panose="020B0600000101010101" charset="-127"/>
                <a:ea typeface="210 Gulim 090" panose="020B0600000101010101" charset="-127"/>
                <a:cs typeface="S-Core Dream 4 Regular"/>
              </a:rPr>
              <a:t>효과</a:t>
            </a:r>
            <a:endParaRPr lang="en-US" sz="3200" b="0" i="0" u="none" strike="noStrike" spc="-100" dirty="0">
              <a:solidFill>
                <a:srgbClr val="000000"/>
              </a:solidFill>
              <a:latin typeface="210 Gulim 090" panose="020B0600000101010101" charset="-127"/>
              <a:ea typeface="210 Gulim 090" panose="020B0600000101010101" charset="-127"/>
              <a:cs typeface="S-Core Dream 4 Regular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40900" y="6591300"/>
            <a:ext cx="5207000" cy="6273800"/>
          </a:xfrm>
          <a:prstGeom prst="rect">
            <a:avLst/>
          </a:prstGeom>
          <a:effectLst>
            <a:outerShdw blurRad="208353" dist="120204" dir="3180000">
              <a:srgbClr val="1A2665">
                <a:alpha val="20000"/>
              </a:srgbClr>
            </a:outerShdw>
          </a:effectLst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88700" y="9893300"/>
            <a:ext cx="2260600" cy="256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85600" y="10642600"/>
            <a:ext cx="1054100" cy="1054100"/>
          </a:xfrm>
          <a:prstGeom prst="rect">
            <a:avLst/>
          </a:prstGeom>
          <a:effectLst>
            <a:outerShdw blurRad="52760" dist="81169" dir="3180000">
              <a:srgbClr val="1A2665">
                <a:alpha val="20000"/>
              </a:srgbClr>
            </a:outerShdw>
          </a:effectLst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3000" y="6870700"/>
            <a:ext cx="4622800" cy="914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0261600" y="8153400"/>
            <a:ext cx="433070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5329"/>
              </a:lnSpc>
            </a:pPr>
            <a:r>
              <a:rPr lang="en-US" sz="3066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학생들의</a:t>
            </a:r>
            <a:r>
              <a:rPr lang="en-US" sz="3066" b="0" i="0" u="none" strike="noStrike" spc="-100" dirty="0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 </a:t>
            </a:r>
            <a:r>
              <a:rPr lang="en-US" sz="3066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오답</a:t>
            </a:r>
            <a:r>
              <a:rPr lang="en-US" sz="3066" b="0" i="0" u="none" strike="noStrike" spc="-100" dirty="0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 </a:t>
            </a:r>
            <a:r>
              <a:rPr lang="en-US" sz="3066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패턴</a:t>
            </a:r>
            <a:r>
              <a:rPr lang="en-US" sz="3066" b="0" i="0" u="none" strike="noStrike" spc="-100" dirty="0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 </a:t>
            </a:r>
            <a:r>
              <a:rPr lang="en-US" sz="3066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분석을</a:t>
            </a:r>
            <a:r>
              <a:rPr lang="en-US" sz="3066" b="0" i="0" u="none" strike="noStrike" spc="-100" dirty="0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 </a:t>
            </a:r>
            <a:r>
              <a:rPr lang="en-US" sz="3066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통한</a:t>
            </a:r>
            <a:r>
              <a:rPr lang="en-US" sz="3066" b="0" i="0" u="none" strike="noStrike" spc="-100" dirty="0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 </a:t>
            </a:r>
            <a:r>
              <a:rPr lang="en-US" sz="3066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강의</a:t>
            </a:r>
            <a:r>
              <a:rPr lang="en-US" sz="3066" b="0" i="0" u="none" strike="noStrike" spc="-100" dirty="0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 질 </a:t>
            </a:r>
            <a:r>
              <a:rPr lang="en-US" sz="3066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개선</a:t>
            </a:r>
            <a:endParaRPr lang="en-US" sz="3066" b="0" i="0" u="none" strike="noStrike" spc="-100" dirty="0">
              <a:solidFill>
                <a:srgbClr val="456E2A"/>
              </a:solidFill>
              <a:latin typeface="210 Gulim 050" panose="020B0600000101010101" charset="-127"/>
              <a:ea typeface="210 Gulim 050" panose="020B0600000101010101" charset="-127"/>
              <a:cs typeface="S-Core Dream 5 Mediu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642600" y="7112000"/>
            <a:ext cx="33909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441" b="0" i="0" u="none" strike="noStrike" spc="-200" dirty="0" err="1">
                <a:solidFill>
                  <a:srgbClr val="000000"/>
                </a:solidFill>
                <a:latin typeface="210 Gulim 050" panose="020B0600000101010101" charset="-127"/>
                <a:ea typeface="210 Gulim 050" panose="020B0600000101010101" charset="-127"/>
                <a:cs typeface="S-Core Dream 4 Regular"/>
              </a:rPr>
              <a:t>강의자</a:t>
            </a:r>
            <a:r>
              <a:rPr lang="en-US" sz="2441" b="0" i="0" u="none" strike="noStrike" spc="-200" dirty="0">
                <a:solidFill>
                  <a:srgbClr val="000000"/>
                </a:solidFill>
                <a:latin typeface="210 Gulim 050" panose="020B0600000101010101" charset="-127"/>
                <a:ea typeface="210 Gulim 050" panose="020B0600000101010101" charset="-127"/>
                <a:cs typeface="S-Core Dream 4 Regular"/>
              </a:rPr>
              <a:t> </a:t>
            </a:r>
            <a:r>
              <a:rPr lang="en-US" sz="2441" b="0" i="0" u="none" strike="noStrike" spc="-200" dirty="0" err="1">
                <a:solidFill>
                  <a:srgbClr val="000000"/>
                </a:solidFill>
                <a:latin typeface="210 Gulim 050" panose="020B0600000101010101" charset="-127"/>
                <a:ea typeface="210 Gulim 050" panose="020B0600000101010101" charset="-127"/>
                <a:cs typeface="S-Core Dream 4 Regular"/>
              </a:rPr>
              <a:t>측면</a:t>
            </a:r>
            <a:endParaRPr lang="en-US" sz="2441" b="0" i="0" u="none" strike="noStrike" spc="-200" dirty="0">
              <a:solidFill>
                <a:srgbClr val="000000"/>
              </a:solidFill>
              <a:latin typeface="210 Gulim 050" panose="020B0600000101010101" charset="-127"/>
              <a:ea typeface="210 Gulim 050" panose="020B0600000101010101" charset="-127"/>
              <a:cs typeface="S-Core Dream 4 Regular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386300" y="6667500"/>
            <a:ext cx="5207000" cy="6273800"/>
          </a:xfrm>
          <a:prstGeom prst="rect">
            <a:avLst/>
          </a:prstGeom>
          <a:effectLst>
            <a:outerShdw blurRad="208353" dist="120204" dir="3180000">
              <a:srgbClr val="1A2665">
                <a:alpha val="20000"/>
              </a:srgbClr>
            </a:outerShdw>
          </a:effectLst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11900" y="10109200"/>
            <a:ext cx="2057400" cy="2336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558000" y="10795000"/>
            <a:ext cx="965200" cy="965200"/>
          </a:xfrm>
          <a:prstGeom prst="rect">
            <a:avLst/>
          </a:prstGeom>
          <a:effectLst>
            <a:outerShdw blurRad="48040" dist="73908" dir="3180000">
              <a:srgbClr val="1A2665">
                <a:alpha val="20000"/>
              </a:srgbClr>
            </a:outerShdw>
          </a:effectLst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691100" y="6946900"/>
            <a:ext cx="4622800" cy="8509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7868900" y="8242300"/>
            <a:ext cx="434340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5329"/>
              </a:lnSpc>
            </a:pPr>
            <a:r>
              <a:rPr lang="en-US" sz="3066" b="0" i="0" u="none" strike="noStrike" spc="-100" dirty="0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AI </a:t>
            </a:r>
            <a:r>
              <a:rPr lang="en-US" sz="3066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기반의</a:t>
            </a:r>
            <a:r>
              <a:rPr lang="en-US" sz="3066" b="0" i="0" u="none" strike="noStrike" spc="-100" dirty="0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 </a:t>
            </a:r>
            <a:r>
              <a:rPr lang="en-US" sz="3066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체계적인</a:t>
            </a:r>
            <a:r>
              <a:rPr lang="en-US" sz="3066" b="0" i="0" u="none" strike="noStrike" spc="-100" dirty="0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 </a:t>
            </a:r>
            <a:r>
              <a:rPr lang="en-US" sz="3066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학습</a:t>
            </a:r>
            <a:r>
              <a:rPr lang="en-US" sz="3066" b="0" i="0" u="none" strike="noStrike" spc="-100" dirty="0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 </a:t>
            </a:r>
            <a:r>
              <a:rPr lang="en-US" sz="3066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관리로</a:t>
            </a:r>
            <a:r>
              <a:rPr lang="en-US" sz="3066" b="0" i="0" u="none" strike="noStrike" spc="-100" dirty="0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 </a:t>
            </a:r>
            <a:r>
              <a:rPr lang="en-US" sz="3066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교육</a:t>
            </a:r>
            <a:r>
              <a:rPr lang="en-US" sz="3066" b="0" i="0" u="none" strike="noStrike" spc="-100" dirty="0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 </a:t>
            </a:r>
            <a:r>
              <a:rPr lang="en-US" sz="3066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성과</a:t>
            </a:r>
            <a:r>
              <a:rPr lang="en-US" sz="3066" b="0" i="0" u="none" strike="noStrike" spc="-100" dirty="0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 </a:t>
            </a:r>
            <a:r>
              <a:rPr lang="en-US" sz="3066" b="0" i="0" u="none" strike="noStrike" spc="-100" dirty="0" err="1">
                <a:solidFill>
                  <a:srgbClr val="456E2A"/>
                </a:solidFill>
                <a:latin typeface="210 Gulim 050" panose="020B0600000101010101" charset="-127"/>
                <a:ea typeface="210 Gulim 050" panose="020B0600000101010101" charset="-127"/>
                <a:cs typeface="S-Core Dream 5 Medium"/>
              </a:rPr>
              <a:t>극대화</a:t>
            </a:r>
            <a:endParaRPr lang="en-US" sz="3066" b="0" i="0" u="none" strike="noStrike" spc="-100" dirty="0">
              <a:solidFill>
                <a:srgbClr val="456E2A"/>
              </a:solidFill>
              <a:latin typeface="210 Gulim 050" panose="020B0600000101010101" charset="-127"/>
              <a:ea typeface="210 Gulim 050" panose="020B0600000101010101" charset="-127"/>
              <a:cs typeface="S-Core Dream 5 Mediu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8300700" y="7162800"/>
            <a:ext cx="33909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441" b="0" i="0" u="none" strike="noStrike" spc="-200" dirty="0" err="1">
                <a:solidFill>
                  <a:srgbClr val="000000"/>
                </a:solidFill>
                <a:latin typeface="210 Gulim 050" panose="020B0600000101010101" charset="-127"/>
                <a:ea typeface="210 Gulim 050" panose="020B0600000101010101" charset="-127"/>
                <a:cs typeface="S-Core Dream 4 Regular"/>
              </a:rPr>
              <a:t>종합</a:t>
            </a:r>
            <a:endParaRPr lang="en-US" sz="2441" b="0" i="0" u="none" strike="noStrike" spc="-200" dirty="0">
              <a:solidFill>
                <a:srgbClr val="000000"/>
              </a:solidFill>
              <a:latin typeface="210 Gulim 050" panose="020B0600000101010101" charset="-127"/>
              <a:ea typeface="210 Gulim 050" panose="020B0600000101010101" charset="-127"/>
              <a:cs typeface="S-Core Dream 4 Regular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710400" y="10934700"/>
            <a:ext cx="647700" cy="647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84700" y="10871200"/>
            <a:ext cx="787400" cy="774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899900" y="10820400"/>
            <a:ext cx="8255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F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5829300"/>
            <a:ext cx="7467600" cy="2057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299700" y="6007100"/>
            <a:ext cx="4076700" cy="1371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7733" b="1" i="0" u="none" strike="noStrike" spc="-400" dirty="0" err="1">
                <a:solidFill>
                  <a:srgbClr val="000000"/>
                </a:solidFill>
                <a:latin typeface="Hakgyoansim Bunpil R"/>
                <a:ea typeface="Hakgyoansim Bunpil R"/>
                <a:cs typeface="Hakgyoansim Bunpil R"/>
              </a:rPr>
              <a:t>감사합니다</a:t>
            </a:r>
            <a:endParaRPr lang="en-US" sz="7733" b="1" i="0" u="none" strike="noStrike" spc="-400" dirty="0">
              <a:solidFill>
                <a:srgbClr val="000000"/>
              </a:solidFill>
              <a:latin typeface="Hakgyoansim Bunpil R"/>
              <a:ea typeface="Hakgyoansim Bunpil R"/>
              <a:cs typeface="Hakgyoansim Bunpil 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324</Words>
  <Application>Microsoft Office PowerPoint</Application>
  <PresentationFormat>사용자 지정</PresentationFormat>
  <Paragraphs>103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210 Gulim 070</vt:lpstr>
      <vt:lpstr>Hakgyoansim Bunpil R</vt:lpstr>
      <vt:lpstr>210 Gulim 050</vt:lpstr>
      <vt:lpstr>맑은 고딕</vt:lpstr>
      <vt:lpstr>210 Gulim 090</vt:lpstr>
      <vt:lpstr>Calibri</vt:lpstr>
      <vt:lpstr>Arial</vt:lpstr>
      <vt:lpstr>S-Core Dream 5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병곤 이</cp:lastModifiedBy>
  <cp:revision>8</cp:revision>
  <dcterms:created xsi:type="dcterms:W3CDTF">2006-08-16T00:00:00Z</dcterms:created>
  <dcterms:modified xsi:type="dcterms:W3CDTF">2026-03-21T05:07:11Z</dcterms:modified>
</cp:coreProperties>
</file>