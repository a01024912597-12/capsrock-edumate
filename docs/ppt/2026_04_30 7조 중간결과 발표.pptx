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4384000" cy="13716000"/>
  <p:notesSz cx="6858000" cy="9144000"/>
  <p:embeddedFontLst>
    <p:embeddedFont>
      <p:font typeface="NanumSquare Bold" panose="020B0600000101010101" charset="-127"/>
      <p:bold r:id="rId15"/>
    </p:embeddedFont>
    <p:embeddedFont>
      <p:font typeface="NanumSquare ExtraBold" panose="020B0600000101010101" charset="-127"/>
      <p:bold r:id="rId16"/>
    </p:embeddedFont>
    <p:embeddedFont>
      <p:font typeface="NanumSquareRoundOTF ExtraBold" panose="020B0600000101010101" charset="-127"/>
      <p:bold r:id="rId17"/>
    </p:embeddedFont>
    <p:embeddedFont>
      <p:font typeface="Pretendard Bold" panose="020B0600000101010101" charset="-127"/>
      <p:bold r:id="rId18"/>
    </p:embeddedFont>
    <p:embeddedFont>
      <p:font typeface="Pretendard Regular" panose="020B0600000101010101" charset="-127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498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12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0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2794000"/>
            <a:ext cx="4991100" cy="8509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112500" y="2908300"/>
            <a:ext cx="22860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3" b="0" i="0" u="none" strike="noStrike">
                <a:solidFill>
                  <a:srgbClr val="FFFFFF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11442700"/>
            <a:ext cx="215138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257800" y="4597400"/>
            <a:ext cx="139065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2009" b="0" i="0" u="none" strike="noStrike" spc="-7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에듀메이트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29300" y="8966200"/>
            <a:ext cx="127381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319" b="0" i="0" u="none" strike="noStrike">
                <a:solidFill>
                  <a:srgbClr val="C2C2C2"/>
                </a:solidFill>
                <a:latin typeface="NanumSquare ExtraBold"/>
                <a:ea typeface="NanumSquare ExtraBold"/>
                <a:cs typeface="NanumSquare ExtraBold"/>
              </a:rPr>
              <a:t>2026 캡스락 졸업작품 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49600" y="6527800"/>
            <a:ext cx="180975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2009" b="0" i="0" u="none" strike="noStrike" spc="-400">
                <a:solidFill>
                  <a:srgbClr val="595959"/>
                </a:solidFill>
                <a:latin typeface="NanumSquare ExtraBold"/>
                <a:ea typeface="NanumSquare ExtraBold"/>
                <a:cs typeface="NanumSquare ExtraBold"/>
              </a:rPr>
              <a:t>중간 결과 보고 발표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91200" y="11760200"/>
            <a:ext cx="128016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1" i="0" u="none" strike="noStrike" spc="-100">
                <a:solidFill>
                  <a:srgbClr val="787878"/>
                </a:solidFill>
                <a:latin typeface="NanumSquare Bold"/>
                <a:ea typeface="NanumSquare Bold"/>
                <a:cs typeface="NanumSquare Bold"/>
              </a:rPr>
              <a:t>2021011896 백준하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102100" y="3111500"/>
            <a:ext cx="4152900" cy="435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47300" y="3111500"/>
            <a:ext cx="4152900" cy="4356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6294100" y="3111500"/>
            <a:ext cx="4152900" cy="435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13398500" y="7747000"/>
            <a:ext cx="4152900" cy="435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226300" y="7734300"/>
            <a:ext cx="4152900" cy="435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578100" y="1295400"/>
            <a:ext cx="48514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목차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5219700"/>
            <a:ext cx="774700" cy="76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470400" y="5626100"/>
            <a:ext cx="341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89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연구 배경 및 목적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24500" y="4114800"/>
            <a:ext cx="13208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565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23700" y="5219700"/>
            <a:ext cx="774700" cy="762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807700" y="5626100"/>
            <a:ext cx="28321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89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작품 개요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57000" y="4114800"/>
            <a:ext cx="13208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565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2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83200" y="5219700"/>
            <a:ext cx="774700" cy="762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6446500" y="5626100"/>
            <a:ext cx="38354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89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결과 분석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703800" y="4114800"/>
            <a:ext cx="13208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565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3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9842500"/>
            <a:ext cx="774700" cy="762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7416800" y="10248900"/>
            <a:ext cx="37719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89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문제점 및 해결 방안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36000" y="8750300"/>
            <a:ext cx="13208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565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4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36800" y="9842500"/>
            <a:ext cx="774700" cy="762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4008100" y="10248900"/>
            <a:ext cx="28321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89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결론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17700" y="8750300"/>
            <a:ext cx="16002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565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5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00" y="1447800"/>
            <a:ext cx="6223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78100" y="1295400"/>
            <a:ext cx="56896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연구 배경 및 목적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42400" y="1485900"/>
            <a:ext cx="13970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에듀메이트 프로젝트 선정 이유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49300" y="5384800"/>
            <a:ext cx="30861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54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강의 이해도 파악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19200" y="6172200"/>
            <a:ext cx="6718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758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강의 요약, 예상 문제 생성 및 결과 등 분석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49300" y="8661400"/>
            <a:ext cx="30861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54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효율적 학습 지원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19200" y="9423400"/>
            <a:ext cx="7353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758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분석한 내용으로 학생에게 필요한 부가 설명 및 피드백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877800" y="3492500"/>
            <a:ext cx="8636000" cy="965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4503400" y="3657600"/>
            <a:ext cx="53848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600" b="0" i="0" u="none" strike="noStrike" spc="-200">
                <a:solidFill>
                  <a:srgbClr val="325ADC"/>
                </a:solidFill>
                <a:latin typeface="NanumSquare Bold"/>
                <a:ea typeface="NanumSquare Bold"/>
                <a:cs typeface="NanumSquare Bold"/>
              </a:rPr>
              <a:t>프로젝트 목표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19500" y="9842500"/>
            <a:ext cx="72390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학생들이 다양한 강의를  온라인으로 접하고 있다.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그렇기에 학생들이 본인만의 궁금증을 해결하지 못하는 경우가 많다고 판단했다.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870200" y="3492500"/>
            <a:ext cx="8636000" cy="965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2300" y="7835900"/>
            <a:ext cx="7747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" y="1320800"/>
            <a:ext cx="584200" cy="863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495800" y="3657600"/>
            <a:ext cx="53848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600" b="0" i="0" u="none" strike="noStrike" spc="-200">
                <a:solidFill>
                  <a:srgbClr val="325ADC"/>
                </a:solidFill>
                <a:latin typeface="NanumSquare Bold"/>
                <a:ea typeface="NanumSquare Bold"/>
                <a:cs typeface="NanumSquare Bold"/>
              </a:rPr>
              <a:t>연구 배경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5500" y="5295900"/>
            <a:ext cx="7391400" cy="3708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438400" y="9169400"/>
            <a:ext cx="93218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41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출처: 과학기술정보통신부, 한국지능정보사회진흥원(2024b). 2023 인터넷이용실태조사. p.46.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5000" y="5397500"/>
            <a:ext cx="2755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74" b="1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학습 관련 온라인 콘텐츠 활용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549400" y="8026400"/>
            <a:ext cx="52197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921500" y="8026400"/>
            <a:ext cx="52197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12306300" y="8026400"/>
            <a:ext cx="52197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14900" y="8026400"/>
            <a:ext cx="5219700" cy="825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578100" y="1295400"/>
            <a:ext cx="48514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작품 개요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42400" y="1498600"/>
            <a:ext cx="13970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에듀메이트 기능 및 흐름 구조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400" y="4965700"/>
            <a:ext cx="635000" cy="6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9500" y="8216900"/>
            <a:ext cx="241300" cy="431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31600" y="8216900"/>
            <a:ext cx="241300" cy="431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16400" y="8216900"/>
            <a:ext cx="241300" cy="431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37700" y="8216900"/>
            <a:ext cx="241300" cy="431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362200" y="9474200"/>
            <a:ext cx="36068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강의 제목 및 유튜브 링크 입력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44700" y="8153400"/>
            <a:ext cx="4216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사용자 입력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0200" y="4965700"/>
            <a:ext cx="635000" cy="63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7734300" y="9474200"/>
            <a:ext cx="3606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썸네일, 영상 ID 등 추출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29500" y="8153400"/>
            <a:ext cx="4216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영상 정보 추출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92300" y="4965700"/>
            <a:ext cx="635000" cy="63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131800" y="9474200"/>
            <a:ext cx="35814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3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yt-dlp를 활용한 오디오 추출</a:t>
            </a:r>
          </a:p>
          <a:p>
            <a:pPr lvl="0" algn="ctr">
              <a:lnSpc>
                <a:spcPct val="116199"/>
              </a:lnSpc>
            </a:pPr>
            <a:r>
              <a:rPr lang="en-US" sz="223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Whisper AI를 활용한 STT 변환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01600" y="8153400"/>
            <a:ext cx="4216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오디오 추출 및 STT 변환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13600" y="4965700"/>
            <a:ext cx="635000" cy="63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8427700" y="9474200"/>
            <a:ext cx="36068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한국어 형태소 분석기</a:t>
            </a:r>
          </a:p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kiwipiepy를 활용한</a:t>
            </a:r>
          </a:p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데이터 전처리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122900" y="8153400"/>
            <a:ext cx="4216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데이터 전처리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78200" y="4114800"/>
            <a:ext cx="15494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542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63000" y="4114800"/>
            <a:ext cx="15494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542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147800" y="4114800"/>
            <a:ext cx="15494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542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456400" y="4114800"/>
            <a:ext cx="15494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542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8700" y="5613400"/>
            <a:ext cx="1778000" cy="17780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3400" y="5435600"/>
            <a:ext cx="2171700" cy="2171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43000" y="5359400"/>
            <a:ext cx="2159000" cy="21590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215100" y="5435600"/>
            <a:ext cx="20193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549400" y="8026400"/>
            <a:ext cx="52197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921500" y="8026400"/>
            <a:ext cx="52197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2306300" y="8026400"/>
            <a:ext cx="52197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14900" y="8026400"/>
            <a:ext cx="5219700" cy="825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578100" y="1295400"/>
            <a:ext cx="48514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작품 개요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42400" y="1498600"/>
            <a:ext cx="13970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에듀메이트 기능 및 흐름 구조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5400" y="4965700"/>
            <a:ext cx="635000" cy="6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9500" y="8216900"/>
            <a:ext cx="241300" cy="431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31600" y="8216900"/>
            <a:ext cx="241300" cy="431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16400" y="8216900"/>
            <a:ext cx="241300" cy="431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37700" y="8216900"/>
            <a:ext cx="241300" cy="431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362200" y="9474200"/>
            <a:ext cx="36068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형태소 분석기로 구분된 문장을 몇 문장씩 나누는 청크 분할 작업 시작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44700" y="8153400"/>
            <a:ext cx="4216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청크 분할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0200" y="4965700"/>
            <a:ext cx="635000" cy="63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7734300" y="9474200"/>
            <a:ext cx="36068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분할된 청크를 요약 후</a:t>
            </a:r>
          </a:p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붙여서 요약문 완성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29500" y="8153400"/>
            <a:ext cx="4216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요약 생성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92300" y="4965700"/>
            <a:ext cx="635000" cy="63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119100" y="9474200"/>
            <a:ext cx="36068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추출된 영상 정보와 요약문을 DB에 저장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01600" y="8153400"/>
            <a:ext cx="4216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결과 저장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13600" y="4965700"/>
            <a:ext cx="635000" cy="63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8427700" y="9474200"/>
            <a:ext cx="36068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저장된 영상 정보와</a:t>
            </a:r>
          </a:p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요약문을 사용자가</a:t>
            </a:r>
          </a:p>
          <a:p>
            <a:pPr lvl="0" algn="ctr">
              <a:lnSpc>
                <a:spcPct val="116199"/>
              </a:lnSpc>
            </a:pPr>
            <a:r>
              <a:rPr lang="en-US" sz="2764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조회시 출력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122900" y="8153400"/>
            <a:ext cx="4216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사용자 출력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78200" y="4114800"/>
            <a:ext cx="15494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542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63000" y="4114800"/>
            <a:ext cx="15494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542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147800" y="4114800"/>
            <a:ext cx="15494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542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07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456400" y="4114800"/>
            <a:ext cx="15494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542" b="0" i="0" u="none" strike="noStrike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08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1200" y="5613400"/>
            <a:ext cx="1816100" cy="1816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3600" y="5473700"/>
            <a:ext cx="2082800" cy="2082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06500" y="5511800"/>
            <a:ext cx="2006600" cy="20066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37300" y="5334000"/>
            <a:ext cx="23876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78100" y="1295400"/>
            <a:ext cx="28448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결과 분석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42400" y="1498600"/>
            <a:ext cx="13970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현재 구현 결과와 초기 계획 비교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35100" y="3416300"/>
          <a:ext cx="21510750" cy="8348256"/>
        </p:xfrm>
        <a:graphic>
          <a:graphicData uri="http://schemas.openxmlformats.org/drawingml/2006/table">
            <a:tbl>
              <a:tblPr/>
              <a:tblGrid>
                <a:gridCol w="5313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7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35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199" b="0" i="0" u="none" strike="noStrike" spc="-200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구분</a:t>
                      </a:r>
                      <a:endParaRPr lang="en-US" sz="1100"/>
                    </a:p>
                  </a:txBody>
                  <a:tcPr marL="25400" marR="25400" marT="85342" marB="8534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199" b="0" i="0" u="none" strike="noStrike" spc="-200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초기 계획</a:t>
                      </a:r>
                      <a:endParaRPr lang="en-US" sz="1100"/>
                    </a:p>
                  </a:txBody>
                  <a:tcPr marL="25400" marR="25400" marT="85342" marB="8534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199" b="0" i="0" u="none" strike="noStrike" spc="-200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현재 구현 결과</a:t>
                      </a:r>
                      <a:endParaRPr lang="en-US" sz="1100"/>
                    </a:p>
                  </a:txBody>
                  <a:tcPr marL="25400" marR="25400" marT="85342" marB="8534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35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강의 데이터 확보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 유튜브 자막 추출 및 음성 기반 분석 방식 검토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yt-dlp 기반 오디오 추출 및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Whisper STT 중심 구조 구현</a:t>
                      </a:r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35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텍스트 처리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강의 내용 분석을 위한 텍스트 정제 필요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kiwipiepy 기반 문장 분리, 추임세 제거,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중복 문장 제거 적용</a:t>
                      </a:r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35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요약 기능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 강의 핵심 내용 요약 제공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청크 분할 후 부분 요약 및 최종 요약 생성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35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문제 생성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 요약 기반 예상 문제 및 답안 생성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차수별 예상 문제와 모범 답안 및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최종 요약 생성</a:t>
                      </a:r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35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데이터 저장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사용자 학습 기록 저장 계획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요약 결과와 퀴즈 결과를
DB에 저장하고 재조회 가능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35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개인 학습 기록 관리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사용자별 학습 이력 관리 목표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히스토리에서 강의 요약 기록과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퀴즈 생성 상태 확인 가능</a:t>
                      </a:r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435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피드백 기능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학습 피드백 제공 목표</a:t>
                      </a:r>
                      <a:endParaRPr lang="en-US" sz="1100"/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기본 학습 피드백 화면 구현, 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933" b="0" i="0" u="none" strike="noStrike" spc="-200">
                          <a:solidFill>
                            <a:srgbClr val="787878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오답 기반 피드백은 향후 개발 예정</a:t>
                      </a:r>
                    </a:p>
                  </a:txBody>
                  <a:tcPr marL="25400" marR="25400" marT="80348" marB="80348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435100" y="4889500"/>
            <a:ext cx="10388600" cy="5778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2433300" y="4889500"/>
            <a:ext cx="10388600" cy="5778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578100" y="1295400"/>
            <a:ext cx="53340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문제점 및 해결방안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900" y="5435600"/>
            <a:ext cx="4445000" cy="762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042400" y="1308100"/>
            <a:ext cx="139700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이 곳에 프로젝트에 대한 소개를 한 문장이나 짧게 요약해서 작성해주세요.</a:t>
            </a:r>
          </a:p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해당 타이틀의 주요 포인트에 대해 입력해 주세요.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0" y="5511800"/>
            <a:ext cx="2286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200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문제 상황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78100" y="6705600"/>
            <a:ext cx="7327900" cy="345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음성 인식 모델 고유 명사 오인식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한국어 형태소 분석 과정 중 텍스트 부자연스럽게 변형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긴 영상 분석 시 처리 시간 길어짐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퀴즈 생성 결과의 유의미성 향상 필요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학습 피드백 기능 확장 필요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강의 구간 연결 기능 미구현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71500" y="6705600"/>
            <a:ext cx="9537700" cy="345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고유 명사 오인식 문제를 위해 Whisper 모델 성능 개선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한국어 형태소 분석 중 텍스트 왜곡 문제를 위해 kiwipiepy 적용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긴 영상 분석 지연 문제를 위해 오디오 전처리 및 사용자 안내 기능 적용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퀴즈 품질 상승을 위해 GPT API 기반 문제 생성 방식 적용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오답 기반 피드백 기능 확장 계획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20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STT 결과의 시간 정보 저장 구조 검토 계획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3200" y="7124700"/>
            <a:ext cx="1117600" cy="1117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5100" y="5435600"/>
            <a:ext cx="4445000" cy="762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684500" y="5511800"/>
            <a:ext cx="3886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200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해결 방안 및 개선 방향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78100" y="1295400"/>
            <a:ext cx="48514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결론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700" y="7162800"/>
            <a:ext cx="9690100" cy="4851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8343900"/>
            <a:ext cx="7378700" cy="3695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0400" y="7493000"/>
            <a:ext cx="5715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0" y="7442200"/>
            <a:ext cx="5715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0600" y="10350500"/>
            <a:ext cx="5715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6200" y="10350500"/>
            <a:ext cx="571500" cy="571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042400" y="1308100"/>
            <a:ext cx="13970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프로젝트 중간 결과 요약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35600" y="4673600"/>
            <a:ext cx="4953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358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청크 단위 분할 결과 요약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84800" y="5435600"/>
            <a:ext cx="50419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kiwipiepy 활용한 텍스트 전처리 후</a:t>
            </a:r>
          </a:p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청크 단위 분할 작업 진행</a:t>
            </a:r>
          </a:p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GPT API 활용하여 요약 결과 생성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42600" y="10160000"/>
            <a:ext cx="32004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에듀메이트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82700" y="4673600"/>
            <a:ext cx="4953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358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예상 문제 및 모범 답안 생성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38300" y="5435600"/>
            <a:ext cx="42418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요약 결과 기반</a:t>
            </a:r>
          </a:p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차수별  문제 및 답안 생성 가능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32000" y="9613900"/>
            <a:ext cx="4953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358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오디오 추출 및 STT 변환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51100" y="10375900"/>
            <a:ext cx="41148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yt-dlp로 오디오 추출</a:t>
            </a:r>
          </a:p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Whisper 활용한 STT 변환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11700" y="9613900"/>
            <a:ext cx="49530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358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사용자별 히스토리 기능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614900" y="10375900"/>
            <a:ext cx="4521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사용자별 분석했던</a:t>
            </a:r>
          </a:p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강의 목록 확인 가능</a:t>
            </a:r>
          </a:p>
          <a:p>
            <a:pPr lvl="0" algn="ctr">
              <a:lnSpc>
                <a:spcPct val="116199"/>
              </a:lnSpc>
            </a:pPr>
            <a:r>
              <a:rPr lang="en-US" sz="279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요약 및 문제 생성 상태 확인 가능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042400" y="1498600"/>
            <a:ext cx="13970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본 프로젝트의 의의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78100" y="1295400"/>
            <a:ext cx="63754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결론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435100" y="3492500"/>
            <a:ext cx="4178300" cy="814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5753100" y="3492500"/>
            <a:ext cx="4178300" cy="8140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0058400" y="3492500"/>
            <a:ext cx="4178300" cy="814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4376400" y="3492500"/>
            <a:ext cx="4178300" cy="8140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8694400" y="3492500"/>
            <a:ext cx="4178300" cy="8140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6200" y="6083300"/>
            <a:ext cx="1816100" cy="1816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200" y="5867400"/>
            <a:ext cx="2832100" cy="222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8400" y="1054100"/>
            <a:ext cx="1308100" cy="1308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663700" y="9321800"/>
            <a:ext cx="37338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39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사용자의 학습 효율 상승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59000" y="10007600"/>
            <a:ext cx="27432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구조화된 요약 자료로 학습 시간 단축 가능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94400" y="9372600"/>
            <a:ext cx="37084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72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사용자의 자기주도적 학습 지원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64300" y="9867900"/>
            <a:ext cx="27559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60" b="0" i="0" u="none" strike="noStrike" spc="-3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강의를 시청하는</a:t>
            </a:r>
          </a:p>
          <a:p>
            <a:pPr lvl="0" algn="ctr">
              <a:lnSpc>
                <a:spcPct val="116199"/>
              </a:lnSpc>
            </a:pPr>
            <a:r>
              <a:rPr lang="en-US" sz="2160" b="0" i="0" u="none" strike="noStrike" spc="-3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수동적 학습에서 벗어나</a:t>
            </a:r>
          </a:p>
          <a:p>
            <a:pPr lvl="0" algn="ctr">
              <a:lnSpc>
                <a:spcPct val="116199"/>
              </a:lnSpc>
            </a:pPr>
            <a:r>
              <a:rPr lang="en-US" sz="2160" b="0" i="0" u="none" strike="noStrike" spc="-3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요약본과 예상 문제로</a:t>
            </a:r>
          </a:p>
          <a:p>
            <a:pPr lvl="0" algn="ctr">
              <a:lnSpc>
                <a:spcPct val="116199"/>
              </a:lnSpc>
            </a:pPr>
            <a:r>
              <a:rPr lang="en-US" sz="2160" b="0" i="0" u="none" strike="noStrike" spc="-3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능동적 학습 유도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99700" y="9372600"/>
            <a:ext cx="3733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72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하나의 웹 시스템으로 통합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68000" y="10007600"/>
            <a:ext cx="2984500" cy="1295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강의 영상 분석을 위한</a:t>
            </a:r>
          </a:p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AI 처리 과정</a:t>
            </a:r>
          </a:p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웹 시스템으로 통합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05000" y="9372600"/>
            <a:ext cx="37338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72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한국어 고려한 전처리 과정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935700" y="9436100"/>
            <a:ext cx="37084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06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DB활용으로 저장 및 조회 가능 구조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100800" y="10007600"/>
            <a:ext cx="3352800" cy="1295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DB 활용으로 이전에 생성한</a:t>
            </a:r>
          </a:p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요약 결과 및</a:t>
            </a:r>
          </a:p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퀴즈 생성 확인 가능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55800" y="10007600"/>
            <a:ext cx="3606800" cy="1295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다양한 표현을 지닌</a:t>
            </a:r>
          </a:p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한국어를 위해 형태소 분석기</a:t>
            </a:r>
          </a:p>
          <a:p>
            <a:pPr lvl="0" algn="ctr">
              <a:lnSpc>
                <a:spcPct val="116199"/>
              </a:lnSpc>
            </a:pPr>
            <a:r>
              <a:rPr lang="en-US" sz="2426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kiwipiepy 활용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63900" y="4762500"/>
            <a:ext cx="533400" cy="50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073400" y="4089400"/>
            <a:ext cx="9017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24" b="0" i="0" u="none" strike="noStrike">
                <a:solidFill>
                  <a:srgbClr val="595959"/>
                </a:solidFill>
                <a:latin typeface="NanumSquare ExtraBold"/>
                <a:ea typeface="NanumSquare ExtraBold"/>
                <a:cs typeface="NanumSquare ExtraBold"/>
              </a:rPr>
              <a:t>01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69200" y="4762500"/>
            <a:ext cx="533400" cy="50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7391400" y="4089400"/>
            <a:ext cx="9017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24" b="0" i="0" u="none" strike="noStrike">
                <a:solidFill>
                  <a:srgbClr val="595959"/>
                </a:solidFill>
                <a:latin typeface="NanumSquare ExtraBold"/>
                <a:ea typeface="NanumSquare ExtraBold"/>
                <a:cs typeface="NanumSquare ExtraBold"/>
              </a:rPr>
              <a:t>02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87200" y="4762500"/>
            <a:ext cx="533400" cy="508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1696700" y="4089400"/>
            <a:ext cx="9017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24" b="0" i="0" u="none" strike="noStrike">
                <a:solidFill>
                  <a:srgbClr val="595959"/>
                </a:solidFill>
                <a:latin typeface="NanumSquare ExtraBold"/>
                <a:ea typeface="NanumSquare ExtraBold"/>
                <a:cs typeface="NanumSquare ExtraBold"/>
              </a:rPr>
              <a:t>03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205200" y="4762500"/>
            <a:ext cx="533400" cy="508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6014700" y="4089400"/>
            <a:ext cx="9017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24" b="0" i="0" u="none" strike="noStrike">
                <a:solidFill>
                  <a:srgbClr val="595959"/>
                </a:solidFill>
                <a:latin typeface="NanumSquare ExtraBold"/>
                <a:ea typeface="NanumSquare ExtraBold"/>
                <a:cs typeface="NanumSquare ExtraBold"/>
              </a:rPr>
              <a:t>04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10500" y="4762500"/>
            <a:ext cx="533400" cy="508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20332700" y="4089400"/>
            <a:ext cx="9017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24" b="0" i="0" u="none" strike="noStrike">
                <a:solidFill>
                  <a:srgbClr val="595959"/>
                </a:solidFill>
                <a:latin typeface="NanumSquare ExtraBold"/>
                <a:ea typeface="NanumSquare ExtraBold"/>
                <a:cs typeface="NanumSquare ExtraBold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21000" y="6007100"/>
            <a:ext cx="1689100" cy="16891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8500" y="5689600"/>
            <a:ext cx="2590800" cy="25908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748500" y="58293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1333500"/>
            <a:ext cx="698500" cy="876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578100" y="1295400"/>
            <a:ext cx="53340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결론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42400" y="1498600"/>
            <a:ext cx="13970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향후 프로젝트 방향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436100" y="3771900"/>
            <a:ext cx="12661900" cy="762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956800" y="3835400"/>
            <a:ext cx="54229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spc="-200">
                <a:solidFill>
                  <a:srgbClr val="325ADC"/>
                </a:solidFill>
                <a:latin typeface="NanumSquare Bold"/>
                <a:ea typeface="NanumSquare Bold"/>
                <a:cs typeface="NanumSquare Bold"/>
              </a:rPr>
              <a:t>GPT API 사용 범위 축소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90100" y="5041900"/>
            <a:ext cx="112522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94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GPT API 의존시 비용 및 의존성 문제 발생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90100" y="5930900"/>
            <a:ext cx="12268200" cy="96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7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요약 기능 및 문제와 모범 답안 생성 기능은 비교적 독립적인 모델로 구현하기 적합하다고 판단</a:t>
            </a:r>
          </a:p>
          <a:p>
            <a:pPr lvl="0" algn="l">
              <a:lnSpc>
                <a:spcPct val="116199"/>
              </a:lnSpc>
            </a:pPr>
            <a:r>
              <a:rPr lang="en-US" sz="27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피드백과 같이 복잡한 언어 이해가 필요한 부분만 활용하는 방향으로 개선 예정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436100" y="7937500"/>
            <a:ext cx="12661900" cy="762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956800" y="8001000"/>
            <a:ext cx="67310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spc="-200">
                <a:solidFill>
                  <a:srgbClr val="325ADC"/>
                </a:solidFill>
                <a:latin typeface="NanumSquare Bold"/>
                <a:ea typeface="NanumSquare Bold"/>
                <a:cs typeface="NanumSquare Bold"/>
              </a:rPr>
              <a:t>영상 구간을 나눠 분석하는 방식 검토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0100" y="9207500"/>
            <a:ext cx="112522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94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요약 결과 생성을 위한 순차적 단계에 따라 처리시간 증가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0100" y="10096500"/>
            <a:ext cx="12026900" cy="110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영상을 나누어 각 구간을 동시에 처리하는 병렬 분석 방식으로 확장하여</a:t>
            </a:r>
          </a:p>
          <a:p>
            <a:pPr lvl="0" algn="l">
              <a:lnSpc>
                <a:spcPct val="116199"/>
              </a:lnSpc>
            </a:pPr>
            <a:r>
              <a:rPr lang="en-US" sz="31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전체 분석 시간 단축을 목표로 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500" y="7391400"/>
            <a:ext cx="4330700" cy="4330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400" y="2997200"/>
            <a:ext cx="4089400" cy="4089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1333500"/>
            <a:ext cx="698500" cy="876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578100" y="1295400"/>
            <a:ext cx="53340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결론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42400" y="1498600"/>
            <a:ext cx="13970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향후 프로젝트 방향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436100" y="3771900"/>
            <a:ext cx="12661900" cy="762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956800" y="3835400"/>
            <a:ext cx="54229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spc="-200">
                <a:solidFill>
                  <a:srgbClr val="325ADC"/>
                </a:solidFill>
                <a:latin typeface="NanumSquare Bold"/>
                <a:ea typeface="NanumSquare Bold"/>
                <a:cs typeface="NanumSquare Bold"/>
              </a:rPr>
              <a:t>영상 저작권 고려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90100" y="5041900"/>
            <a:ext cx="12547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60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유튜브 영상이나 외부 영상 자료 활용 시 시연 및 평가에서 저작권 문제 발생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90100" y="5930900"/>
            <a:ext cx="12268200" cy="96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7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직접 촬영한 강의 영상이나 사용 허가가 명확한 공개 강의 자료, 공용 데이터셋을</a:t>
            </a:r>
          </a:p>
          <a:p>
            <a:pPr lvl="0" algn="l">
              <a:lnSpc>
                <a:spcPct val="116199"/>
              </a:lnSpc>
            </a:pPr>
            <a:r>
              <a:rPr lang="en-US" sz="27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활용하는 방향으로 데이터 수집 범위 조정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436100" y="7937500"/>
            <a:ext cx="12661900" cy="762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956800" y="8001000"/>
            <a:ext cx="67310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spc="-200">
                <a:solidFill>
                  <a:srgbClr val="325ADC"/>
                </a:solidFill>
                <a:latin typeface="NanumSquare Bold"/>
                <a:ea typeface="NanumSquare Bold"/>
                <a:cs typeface="NanumSquare Bold"/>
              </a:rPr>
              <a:t>오답 기반 학습 피드백 기능 구현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0100" y="9207500"/>
            <a:ext cx="112522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94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요약과 퀴즈가 텍스트 중심인 탓에 시각적 자료 부족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0100" y="10096500"/>
            <a:ext cx="12611100" cy="110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향후 STT 결과의 시간 정보 저장 후 특정 개념 및 예상 문제의 원본 영상 구간을 연결,</a:t>
            </a:r>
          </a:p>
          <a:p>
            <a:pPr lvl="0" algn="l">
              <a:lnSpc>
                <a:spcPct val="116199"/>
              </a:lnSpc>
            </a:pPr>
            <a:r>
              <a:rPr lang="en-US" sz="31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오답 문제나 이해 부족한 개념 빠르게 복습을 돕게 할 예정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0" y="3035300"/>
            <a:ext cx="4000500" cy="4000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800" y="7442200"/>
            <a:ext cx="422910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1333500"/>
            <a:ext cx="698500" cy="876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578100" y="1295400"/>
            <a:ext cx="53340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5333" b="0" i="0" u="none" strike="noStrike" spc="-3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결론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42400" y="1498600"/>
            <a:ext cx="139700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향후 프로젝트 방향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436100" y="3771900"/>
            <a:ext cx="12661900" cy="762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956800" y="3835400"/>
            <a:ext cx="54229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spc="-200">
                <a:solidFill>
                  <a:srgbClr val="325ADC"/>
                </a:solidFill>
                <a:latin typeface="NanumSquare Bold"/>
                <a:ea typeface="NanumSquare Bold"/>
                <a:cs typeface="NanumSquare Bold"/>
              </a:rPr>
              <a:t>강의 구간 연결 기능 추가 계획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90100" y="5041900"/>
            <a:ext cx="12547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60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요약과 퀴즈가 영상 속 어느 구간에 나왔는지 확인이 어려움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64700" y="5930900"/>
            <a:ext cx="12661900" cy="110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향후 STT 결과의 시간 정보 저장 후 특정 개념 및 예상 문제의 원본 영상 구간을 연결,
오답 문제나 이해 부족한 개념 빠르게 복습을 돕게 할 예정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436100" y="7937500"/>
            <a:ext cx="12661900" cy="762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956800" y="8001000"/>
            <a:ext cx="67310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spc="-200">
                <a:solidFill>
                  <a:srgbClr val="325ADC"/>
                </a:solidFill>
                <a:latin typeface="NanumSquare Bold"/>
                <a:ea typeface="NanumSquare Bold"/>
                <a:cs typeface="NanumSquare Bold"/>
              </a:rPr>
              <a:t>강의 속 시각 자료 활용 검토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0100" y="9207500"/>
            <a:ext cx="112522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894" b="0" i="0" u="none" strike="noStrike" spc="-200">
                <a:solidFill>
                  <a:srgbClr val="325ADC"/>
                </a:solidFill>
                <a:latin typeface="NanumSquare ExtraBold"/>
                <a:ea typeface="NanumSquare ExtraBold"/>
                <a:cs typeface="NanumSquare ExtraBold"/>
              </a:rPr>
              <a:t>오디오 기반 분석인 탓에 영상 속 시각적 자료 활용 불가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0100" y="10096500"/>
            <a:ext cx="12611100" cy="110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영상 속 PPT, 판서, 도표, 이미지 등 시각적 정보를 이미지 분석 기술을 활용하여</a:t>
            </a:r>
          </a:p>
          <a:p>
            <a:pPr lvl="0" algn="l">
              <a:lnSpc>
                <a:spcPct val="116199"/>
              </a:lnSpc>
            </a:pPr>
            <a:r>
              <a:rPr lang="en-US" sz="3109" b="0" i="0" u="none" strike="noStrike" spc="-200">
                <a:solidFill>
                  <a:srgbClr val="595959"/>
                </a:solidFill>
                <a:latin typeface="NanumSquare Bold"/>
                <a:ea typeface="NanumSquare Bold"/>
                <a:cs typeface="NanumSquare Bold"/>
              </a:rPr>
              <a:t>더욱 정확하고 품질 높은 요약과 문제 생성 수행하도록 확장 예정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3365500"/>
            <a:ext cx="3949700" cy="3949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7200" y="78359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24460200" cy="36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2446000"/>
            <a:ext cx="215138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88400" y="5892800"/>
            <a:ext cx="6946900" cy="193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0859" b="0" i="0" u="none" strike="noStrike" spc="-600">
                <a:solidFill>
                  <a:srgbClr val="325ADC"/>
                </a:solidFill>
                <a:latin typeface="NanumSquare Bold"/>
                <a:ea typeface="NanumSquare Bold"/>
                <a:cs typeface="NanumSquare Bold"/>
              </a:rPr>
              <a:t>감사합니다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23400" y="7899400"/>
            <a:ext cx="55245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14" b="0" i="0" u="none" strike="noStrike">
                <a:solidFill>
                  <a:srgbClr val="C2C2C2"/>
                </a:solidFill>
                <a:latin typeface="NanumSquare ExtraBold"/>
                <a:ea typeface="NanumSquare ExtraBold"/>
                <a:cs typeface="NanumSquare Extra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23200" y="10414000"/>
            <a:ext cx="2921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15" b="0" i="0" u="none" strike="noStrike" spc="-300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강미리 팀장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17500" y="10414000"/>
            <a:ext cx="41148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15" b="0" i="0" u="none" strike="noStrike">
                <a:solidFill>
                  <a:srgbClr val="FFFFFF"/>
                </a:solidFill>
                <a:latin typeface="NanumSquare ExtraBold"/>
                <a:ea typeface="NanumSquare ExtraBold"/>
                <a:cs typeface="NanumSquare ExtraBold"/>
              </a:rPr>
              <a:t>000-0000-000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526500" y="12623800"/>
            <a:ext cx="137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45" b="0" i="0" u="none" strike="noStrike">
                <a:solidFill>
                  <a:srgbClr val="325ADC"/>
                </a:solidFill>
                <a:latin typeface="NanumSquareRoundOTF ExtraBold"/>
                <a:ea typeface="NanumSquareRoundOTF ExtraBold"/>
                <a:cs typeface="NanumSquareRoundOTF ExtraBold"/>
              </a:rPr>
              <a:t>CapsRock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Microsoft Office PowerPoint</Application>
  <PresentationFormat>사용자 지정</PresentationFormat>
  <Paragraphs>198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NanumSquareRoundOTF ExtraBold</vt:lpstr>
      <vt:lpstr>Calibri</vt:lpstr>
      <vt:lpstr>Pretendard Regular</vt:lpstr>
      <vt:lpstr>Arial</vt:lpstr>
      <vt:lpstr>NanumSquare Bold</vt:lpstr>
      <vt:lpstr>Pretendard Bold</vt:lpstr>
      <vt:lpstr>NanumSquare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종준 박</cp:lastModifiedBy>
  <cp:revision>2</cp:revision>
  <dcterms:created xsi:type="dcterms:W3CDTF">2006-08-16T00:00:00Z</dcterms:created>
  <dcterms:modified xsi:type="dcterms:W3CDTF">2026-04-29T11:02:56Z</dcterms:modified>
</cp:coreProperties>
</file>