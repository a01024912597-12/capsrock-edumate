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24384000" cy="13716000"/>
  <p:notesSz cx="6858000" cy="9144000"/>
  <p:embeddedFontLst>
    <p:embeddedFont>
      <p:font typeface="Pretendard SemiBold"/>
      <p:bold r:id="rId12"/>
    </p:embeddedFont>
    <p:embeddedFont>
      <p:font typeface="Pretendard ExtraBold"/>
      <p:bold r:id="rId13"/>
    </p:embeddedFont>
    <p:embeddedFont>
      <p:font typeface="Pretendard Medium"/>
      <p:bold r:id="rId14"/>
    </p:embeddedFont>
    <p:embeddedFont>
      <p:font typeface="Pretendard Bold"/>
      <p:bold r:id="rId15"/>
    </p:embeddedFont>
    <p:embeddedFont>
      <p:font typeface="Pretendard Regular"/>
      <p:regular r:id="rId16"/>
    </p:embeddedFont>
    <p:embeddedFont>
      <p:font typeface="Pretendard Black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.fntdata" Type="http://schemas.openxmlformats.org/officeDocument/2006/relationships/font"/><Relationship Id="rId13" Target="fonts/font2.fntdata" Type="http://schemas.openxmlformats.org/officeDocument/2006/relationships/font"/><Relationship Id="rId14" Target="fonts/font3.fntdata" Type="http://schemas.openxmlformats.org/officeDocument/2006/relationships/font"/><Relationship Id="rId15" Target="fonts/font4.fntdata" Type="http://schemas.openxmlformats.org/officeDocument/2006/relationships/font"/><Relationship Id="rId16" Target="fonts/font5.fntdata" Type="http://schemas.openxmlformats.org/officeDocument/2006/relationships/font"/><Relationship Id="rId17" Target="fonts/font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8.png" Type="http://schemas.openxmlformats.org/officeDocument/2006/relationships/image"/><Relationship Id="rId15" Target="../media/image7.png" Type="http://schemas.openxmlformats.org/officeDocument/2006/relationships/image"/><Relationship Id="rId16" Target="../media/image31.png" Type="http://schemas.openxmlformats.org/officeDocument/2006/relationships/image"/><Relationship Id="rId17" Target="../media/image32.png" Type="http://schemas.openxmlformats.org/officeDocument/2006/relationships/image"/><Relationship Id="rId18" Target="../media/image33.png" Type="http://schemas.openxmlformats.org/officeDocument/2006/relationships/image"/><Relationship Id="rId2" Target="../media/image20.png" Type="http://schemas.openxmlformats.org/officeDocument/2006/relationships/image"/><Relationship Id="rId3" Target="../media/image6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9.png" Type="http://schemas.openxmlformats.org/officeDocument/2006/relationships/image"/><Relationship Id="rId4" Target="../media/image34.png" Type="http://schemas.openxmlformats.org/officeDocument/2006/relationships/image"/><Relationship Id="rId5" Target="../media/image8.png" Type="http://schemas.openxmlformats.org/officeDocument/2006/relationships/image"/><Relationship Id="rId6" Target="../media/image7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89000"/>
            <a:ext cx="22606000" cy="11938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55100" y="4673600"/>
            <a:ext cx="6273800" cy="1219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308600" y="9918700"/>
            <a:ext cx="13766800" cy="10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352800" y="1993900"/>
            <a:ext cx="6350000" cy="6350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5156200" y="5727700"/>
            <a:ext cx="14071600" cy="4749800"/>
          </a:xfrm>
          <a:prstGeom prst="rect">
            <a:avLst/>
          </a:prstGeom>
        </p:spPr>
        <p:txBody>
          <a:bodyPr anchor="t" rtlCol="false" lIns="0" tIns="232834" rIns="0" bIns="0"/>
          <a:lstStyle/>
          <a:p>
            <a:pPr algn="ctr" lvl="0">
              <a:lnSpc>
                <a:spcPct val="95449"/>
              </a:lnSpc>
            </a:pPr>
            <a:r>
              <a:rPr lang="en-US" sz="14666" b="false" i="false" u="none" strike="noStrike">
                <a:solidFill>
                  <a:srgbClr val="4467EF"/>
                </a:solidFill>
                <a:latin typeface="Pretendard ExtraBold"/>
                <a:ea typeface="Pretendard ExtraBold"/>
                <a:cs typeface="Pretendard ExtraBold"/>
              </a:rPr>
              <a:t>캡스톤 디자인</a:t>
            </a:r>
          </a:p>
          <a:p>
            <a:pPr algn="ctr" lvl="0">
              <a:lnSpc>
                <a:spcPct val="95449"/>
              </a:lnSpc>
            </a:pPr>
            <a:r>
              <a:rPr lang="en-US" sz="14666" b="false" i="false" u="none" strike="noStrike">
                <a:solidFill>
                  <a:srgbClr val="343434"/>
                </a:solidFill>
                <a:latin typeface="Pretendard ExtraBold"/>
                <a:ea typeface="Pretendard ExtraBold"/>
                <a:cs typeface="Pretendard ExtraBold"/>
              </a:rPr>
              <a:t/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59900" y="4826000"/>
            <a:ext cx="5702300" cy="774700"/>
          </a:xfrm>
          <a:prstGeom prst="rect">
            <a:avLst/>
          </a:prstGeom>
        </p:spPr>
        <p:txBody>
          <a:bodyPr anchor="t" rtlCol="false" lIns="0" tIns="55082" rIns="0" bIns="0"/>
          <a:lstStyle/>
          <a:p>
            <a:pPr algn="ctr" lvl="0">
              <a:lnSpc>
                <a:spcPct val="99600"/>
              </a:lnSpc>
            </a:pPr>
            <a:r>
              <a:rPr lang="en-US" sz="4337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2026 졸업작품 프로젝트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40400" y="10134600"/>
            <a:ext cx="12903200" cy="596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4467EF"/>
                </a:solidFill>
                <a:latin typeface="Pretendard Medium"/>
                <a:ea typeface="Pretendard Medium"/>
                <a:cs typeface="Pretendard Medium"/>
              </a:rPr>
              <a:t>CapsRock    |    발표자 백준하    |    2026년 03월 13일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154900" y="9144000"/>
            <a:ext cx="8458200" cy="8470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1500" y="508000"/>
            <a:ext cx="23253700" cy="127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3086100"/>
            <a:ext cx="207772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16100" y="1955800"/>
            <a:ext cx="609600" cy="609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0510500" y="2387600"/>
            <a:ext cx="2197100" cy="406400"/>
          </a:xfrm>
          <a:prstGeom prst="rect">
            <a:avLst/>
          </a:prstGeom>
        </p:spPr>
        <p:txBody>
          <a:bodyPr anchor="t" rtlCol="false" lIns="0" tIns="29469" rIns="0" bIns="0"/>
          <a:lstStyle/>
          <a:p>
            <a:pPr algn="l" lvl="0">
              <a:lnSpc>
                <a:spcPct val="99600"/>
              </a:lnSpc>
            </a:pPr>
            <a:r>
              <a:rPr lang="en-US" sz="2320" b="false" i="false" u="none" strike="noStrike">
                <a:solidFill>
                  <a:srgbClr val="3F3F3F"/>
                </a:solidFill>
                <a:latin typeface="Pretendard ExtraBold"/>
                <a:ea typeface="Pretendard ExtraBold"/>
                <a:cs typeface="Pretendard ExtraBold"/>
              </a:rPr>
              <a:t>CapsRock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721100" y="6197600"/>
            <a:ext cx="57912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0" y="10020300"/>
            <a:ext cx="57912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020800" y="6197600"/>
            <a:ext cx="57912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020800" y="10020300"/>
            <a:ext cx="5791200" cy="25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717800" y="1676400"/>
            <a:ext cx="69215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43434"/>
                </a:solidFill>
                <a:latin typeface="Pretendard ExtraBold"/>
                <a:ea typeface="Pretendard ExtraBold"/>
                <a:cs typeface="Pretendard ExtraBold"/>
              </a:rPr>
              <a:t>팀원 소개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83300" y="2019300"/>
            <a:ext cx="6743700" cy="596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l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9E9E9E"/>
                </a:solidFill>
                <a:latin typeface="Pretendard Medium"/>
                <a:ea typeface="Pretendard Medium"/>
                <a:cs typeface="Pretendard Medium"/>
              </a:rPr>
              <a:t>Team Members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43400" y="5334000"/>
            <a:ext cx="16764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343434"/>
                </a:solidFill>
                <a:latin typeface="Pretendard Bold"/>
                <a:ea typeface="Pretendard Bold"/>
                <a:cs typeface="Pretendard Bold"/>
              </a:rPr>
              <a:t>이종혁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67200" y="6515100"/>
            <a:ext cx="52959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프로젝트 총괄</a:t>
            </a:r>
          </a:p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서류 작성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91200" y="5511800"/>
            <a:ext cx="3302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4467EF"/>
                </a:solidFill>
                <a:latin typeface="Pretendard Bold"/>
                <a:ea typeface="Pretendard Bold"/>
                <a:cs typeface="Pretendard Bold"/>
              </a:rPr>
              <a:t>팀장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43100" y="5334000"/>
            <a:ext cx="16129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343434"/>
                </a:solidFill>
                <a:latin typeface="Pretendard Bold"/>
                <a:ea typeface="Pretendard Bold"/>
                <a:cs typeface="Pretendard Bold"/>
              </a:rPr>
              <a:t>이병곤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16300" y="5511800"/>
            <a:ext cx="3302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1C576"/>
                </a:solidFill>
                <a:latin typeface="Pretendard Bold"/>
                <a:ea typeface="Pretendard Bold"/>
                <a:cs typeface="Pretendard Bold"/>
              </a:rPr>
              <a:t>팀원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43400" y="9156700"/>
            <a:ext cx="16764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343434"/>
                </a:solidFill>
                <a:latin typeface="Pretendard Bold"/>
                <a:ea typeface="Pretendard Bold"/>
                <a:cs typeface="Pretendard Bold"/>
              </a:rPr>
              <a:t>백준하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67200" y="10363200"/>
            <a:ext cx="52959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백엔드 담당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91200" y="9321800"/>
            <a:ext cx="3302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1C576"/>
                </a:solidFill>
                <a:latin typeface="Pretendard Bold"/>
                <a:ea typeface="Pretendard Bold"/>
                <a:cs typeface="Pretendard Bold"/>
              </a:rPr>
              <a:t>팀원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43100" y="9156700"/>
            <a:ext cx="16637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343434"/>
                </a:solidFill>
                <a:latin typeface="Pretendard Bold"/>
                <a:ea typeface="Pretendard Bold"/>
                <a:cs typeface="Pretendard Bold"/>
              </a:rPr>
              <a:t>박종준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19300" y="10363200"/>
            <a:ext cx="52959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프론트엔드 담당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116300" y="9334500"/>
            <a:ext cx="3302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1C576"/>
                </a:solidFill>
                <a:latin typeface="Pretendard Bold"/>
                <a:ea typeface="Pretendard Bold"/>
                <a:cs typeface="Pretendard Bold"/>
              </a:rPr>
              <a:t>팀원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81200" y="6515100"/>
            <a:ext cx="5283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43434"/>
                </a:solidFill>
                <a:latin typeface="Pretendard Medium"/>
                <a:ea typeface="Pretendard Medium"/>
                <a:cs typeface="Pretendard Medium"/>
              </a:rPr>
              <a:t>백엔드 담당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1500" y="508000"/>
            <a:ext cx="23253700" cy="127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3086100"/>
            <a:ext cx="207772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16100" y="1955800"/>
            <a:ext cx="609600" cy="609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0510500" y="2387600"/>
            <a:ext cx="2197100" cy="406400"/>
          </a:xfrm>
          <a:prstGeom prst="rect">
            <a:avLst/>
          </a:prstGeom>
        </p:spPr>
        <p:txBody>
          <a:bodyPr anchor="t" rtlCol="false" lIns="0" tIns="29469" rIns="0" bIns="0"/>
          <a:lstStyle/>
          <a:p>
            <a:pPr algn="l" lvl="0">
              <a:lnSpc>
                <a:spcPct val="99600"/>
              </a:lnSpc>
            </a:pPr>
            <a:r>
              <a:rPr lang="en-US" sz="2320" b="false" i="false" u="none" strike="noStrike">
                <a:solidFill>
                  <a:srgbClr val="3F3F3F"/>
                </a:solidFill>
                <a:latin typeface="Pretendard ExtraBold"/>
                <a:ea typeface="Pretendard ExtraBold"/>
                <a:cs typeface="Pretendard ExtraBold"/>
              </a:rPr>
              <a:t>CapsRock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60600" y="4572000"/>
            <a:ext cx="9779000" cy="3187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32900" y="4927600"/>
            <a:ext cx="2425700" cy="2425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293600" y="4572000"/>
            <a:ext cx="9779000" cy="3187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687300" y="4927600"/>
            <a:ext cx="2425700" cy="2425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11400" y="8077200"/>
            <a:ext cx="9779000" cy="318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283700" y="8432800"/>
            <a:ext cx="2425700" cy="2425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331700" y="8077200"/>
            <a:ext cx="9779000" cy="318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687300" y="8432800"/>
            <a:ext cx="2425700" cy="2425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717800" y="1676400"/>
            <a:ext cx="60452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43434"/>
                </a:solidFill>
                <a:latin typeface="Pretendard ExtraBold"/>
                <a:ea typeface="Pretendard ExtraBold"/>
                <a:cs typeface="Pretendard ExtraBold"/>
              </a:rPr>
              <a:t>주제 선정 기준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18400" y="2019300"/>
            <a:ext cx="6743700" cy="596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l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9E9E9E"/>
                </a:solidFill>
                <a:latin typeface="Pretendard Medium"/>
                <a:ea typeface="Pretendard Medium"/>
                <a:cs typeface="Pretendard Medium"/>
              </a:rPr>
              <a:t>Selection Criteria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21800" y="5435600"/>
            <a:ext cx="2197100" cy="1371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77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68700" y="5816600"/>
            <a:ext cx="53213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타 대학 프로젝트 및 현 산업 트렌드 고려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프로젝트 완성도 상승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68700" y="5003800"/>
            <a:ext cx="1676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4467EF"/>
                </a:solidFill>
                <a:latin typeface="Pretendard Bold"/>
                <a:ea typeface="Pretendard Bold"/>
                <a:cs typeface="Pretendard Bold"/>
              </a:rPr>
              <a:t>인공지능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354300" y="5816600"/>
            <a:ext cx="53213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기존에 존재하는 기술 지양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기존 기술을 결합하여 새로운 가치 창출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54300" y="5016500"/>
            <a:ext cx="1308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1C576"/>
                </a:solidFill>
                <a:latin typeface="Pretendard Bold"/>
                <a:ea typeface="Pretendard Bold"/>
                <a:cs typeface="Pretendard Bold"/>
              </a:rPr>
              <a:t>창의성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76200" y="5435600"/>
            <a:ext cx="2197100" cy="1371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77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59900" y="8953500"/>
            <a:ext cx="2197100" cy="1371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77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19500" y="9321800"/>
            <a:ext cx="57785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두 학기 동안 구현 가능한 수준의 프로젝트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앱 또는 웹으로 구현 가능한 프로젝트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19500" y="8559800"/>
            <a:ext cx="2311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1C576"/>
                </a:solidFill>
                <a:latin typeface="Pretendard Bold"/>
                <a:ea typeface="Pretendard Bold"/>
                <a:cs typeface="Pretendard Bold"/>
              </a:rPr>
              <a:t>구현 가능성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354300" y="9321800"/>
            <a:ext cx="63246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일상생활이나 문제 해결에 도움이 되는 기술 선정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354300" y="8559800"/>
            <a:ext cx="1308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4467EF"/>
                </a:solidFill>
                <a:latin typeface="Pretendard Bold"/>
                <a:ea typeface="Pretendard Bold"/>
                <a:cs typeface="Pretendard Bold"/>
              </a:rPr>
              <a:t>실용성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76200" y="8953500"/>
            <a:ext cx="2197100" cy="1371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77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81600" y="5118100"/>
            <a:ext cx="35179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Regular"/>
                <a:ea typeface="Pretendard Regular"/>
                <a:cs typeface="Pretendard Regular"/>
              </a:rPr>
              <a:t>Artificial Intelligence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89600" y="8648700"/>
            <a:ext cx="2032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Regular"/>
                <a:ea typeface="Pretendard Regular"/>
                <a:cs typeface="Pretendard Regular"/>
              </a:rPr>
              <a:t>Posibility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624300" y="5118100"/>
            <a:ext cx="2209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Regular"/>
                <a:ea typeface="Pretendard Regular"/>
                <a:cs typeface="Pretendard Regular"/>
              </a:rPr>
              <a:t>Creativity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624300" y="8648700"/>
            <a:ext cx="2209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Regular"/>
                <a:ea typeface="Pretendard Regular"/>
                <a:cs typeface="Pretendard Regular"/>
              </a:rPr>
              <a:t>Utility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35100" y="2019300"/>
            <a:ext cx="21513800" cy="9677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1500" y="508000"/>
            <a:ext cx="23253700" cy="127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14600" y="7404100"/>
            <a:ext cx="19354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165600" y="5549900"/>
            <a:ext cx="3619500" cy="3721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33900" y="8077200"/>
            <a:ext cx="29337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23500" y="5549900"/>
            <a:ext cx="3619500" cy="3721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553700" y="8077200"/>
            <a:ext cx="30226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510000" y="5448300"/>
            <a:ext cx="3619500" cy="383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865600" y="8077200"/>
            <a:ext cx="29972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511800" y="5016500"/>
            <a:ext cx="927100" cy="927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569700" y="5016500"/>
            <a:ext cx="927100" cy="927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856200" y="5016500"/>
            <a:ext cx="927100" cy="927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16100" y="1955800"/>
            <a:ext cx="609600" cy="609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41500" y="3086100"/>
            <a:ext cx="20777200" cy="254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0510500" y="2387600"/>
            <a:ext cx="2197100" cy="406400"/>
          </a:xfrm>
          <a:prstGeom prst="rect">
            <a:avLst/>
          </a:prstGeom>
        </p:spPr>
        <p:txBody>
          <a:bodyPr anchor="t" rtlCol="false" lIns="0" tIns="29469" rIns="0" bIns="0"/>
          <a:lstStyle/>
          <a:p>
            <a:pPr algn="l" lvl="0">
              <a:lnSpc>
                <a:spcPct val="99600"/>
              </a:lnSpc>
            </a:pPr>
            <a:r>
              <a:rPr lang="en-US" sz="2320" b="false" i="false" u="none" strike="noStrike">
                <a:solidFill>
                  <a:srgbClr val="3F3F3F"/>
                </a:solidFill>
                <a:latin typeface="Pretendard ExtraBold"/>
                <a:ea typeface="Pretendard ExtraBold"/>
                <a:cs typeface="Pretendard ExtraBold"/>
              </a:rPr>
              <a:t>CapsRock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17800" y="1676400"/>
            <a:ext cx="34925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43434"/>
                </a:solidFill>
                <a:latin typeface="Pretendard ExtraBold"/>
                <a:ea typeface="Pretendard ExtraBold"/>
                <a:cs typeface="Pretendard ExtraBold"/>
              </a:rPr>
              <a:t>모델 소개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07100" y="2019300"/>
            <a:ext cx="5029200" cy="596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l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9E9E9E"/>
                </a:solidFill>
                <a:latin typeface="Pretendard Medium"/>
                <a:ea typeface="Pretendard Medium"/>
                <a:cs typeface="Pretendard Medium"/>
              </a:rPr>
              <a:t>Model Overview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78500" y="5194300"/>
            <a:ext cx="3810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36400" y="5194300"/>
            <a:ext cx="3810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122900" y="5194300"/>
            <a:ext cx="4064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11700" y="8432800"/>
            <a:ext cx="2489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343434"/>
                </a:solidFill>
                <a:latin typeface="Pretendard Bold"/>
                <a:ea typeface="Pretendard Bold"/>
                <a:cs typeface="Pretendard Bold"/>
              </a:rPr>
              <a:t>강의 분석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11500" y="9740900"/>
            <a:ext cx="53213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 spc="-100">
                <a:solidFill>
                  <a:srgbClr val="3F3F3F"/>
                </a:solidFill>
                <a:latin typeface="Pretendard Regular"/>
                <a:ea typeface="Pretendard Regular"/>
                <a:cs typeface="Pretendard Regular"/>
              </a:rPr>
              <a:t>퀴즈, 과제 결과 등 분석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 spc="-100">
                <a:solidFill>
                  <a:srgbClr val="3F3F3F"/>
                </a:solidFill>
                <a:latin typeface="Pretendard Regular"/>
                <a:ea typeface="Pretendard Regular"/>
                <a:cs typeface="Pretendard Regular"/>
              </a:rPr>
              <a:t>업로드 된 강의 영상, 강의 자료 분석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75800" y="9740900"/>
            <a:ext cx="53340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 spc="-100">
                <a:solidFill>
                  <a:srgbClr val="3F3F3F"/>
                </a:solidFill>
                <a:latin typeface="Pretendard Regular"/>
                <a:ea typeface="Pretendard Regular"/>
                <a:cs typeface="Pretendard Regular"/>
              </a:rPr>
              <a:t>분석 결과를 토대로 강의 요약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18800" y="8432800"/>
            <a:ext cx="26289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343434"/>
                </a:solidFill>
                <a:latin typeface="Pretendard Bold"/>
                <a:ea typeface="Pretendard Bold"/>
                <a:cs typeface="Pretendard Bold"/>
              </a:rPr>
              <a:t>강의 요약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989300" y="9740900"/>
            <a:ext cx="53594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 spc="-100">
                <a:solidFill>
                  <a:srgbClr val="3F3F3F"/>
                </a:solidFill>
                <a:latin typeface="Pretendard Regular"/>
                <a:ea typeface="Pretendard Regular"/>
                <a:cs typeface="Pretendard Regular"/>
              </a:rPr>
              <a:t>분석 및 요약을 토대로 예상 문제 생성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132300" y="8432800"/>
            <a:ext cx="2451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343434"/>
                </a:solidFill>
                <a:latin typeface="Pretendard Bold"/>
                <a:ea typeface="Pretendard Bold"/>
                <a:cs typeface="Pretendard Bold"/>
              </a:rPr>
              <a:t>예상 문제 생성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610100" y="5461000"/>
            <a:ext cx="2997200" cy="2997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985500" y="5803900"/>
            <a:ext cx="2146300" cy="2311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7462500" y="5943600"/>
            <a:ext cx="17526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1500" y="508000"/>
            <a:ext cx="23253700" cy="127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56200" y="7327900"/>
            <a:ext cx="57912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605000" y="7442200"/>
            <a:ext cx="70739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0510500" y="2387600"/>
            <a:ext cx="2197100" cy="406400"/>
          </a:xfrm>
          <a:prstGeom prst="rect">
            <a:avLst/>
          </a:prstGeom>
        </p:spPr>
        <p:txBody>
          <a:bodyPr anchor="t" rtlCol="false" lIns="0" tIns="29469" rIns="0" bIns="0"/>
          <a:lstStyle/>
          <a:p>
            <a:pPr algn="l" lvl="0">
              <a:lnSpc>
                <a:spcPct val="99600"/>
              </a:lnSpc>
            </a:pPr>
            <a:r>
              <a:rPr lang="en-US" sz="2320" b="false" i="false" u="none" strike="noStrike">
                <a:solidFill>
                  <a:srgbClr val="3F3F3F"/>
                </a:solidFill>
                <a:latin typeface="Pretendard ExtraBold"/>
                <a:ea typeface="Pretendard ExtraBold"/>
                <a:cs typeface="Pretendard ExtraBold"/>
              </a:rPr>
              <a:t>CapsRock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16100" y="1955800"/>
            <a:ext cx="6096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41500" y="3086100"/>
            <a:ext cx="207772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5156200" y="6578600"/>
            <a:ext cx="6324600" cy="622300"/>
          </a:xfrm>
          <a:prstGeom prst="rect">
            <a:avLst/>
          </a:prstGeom>
        </p:spPr>
        <p:txBody>
          <a:bodyPr anchor="t" rtlCol="false" lIns="0" tIns="44027" rIns="0" bIns="0"/>
          <a:lstStyle/>
          <a:p>
            <a:pPr algn="l" lvl="0">
              <a:lnSpc>
                <a:spcPct val="99600"/>
              </a:lnSpc>
            </a:pPr>
            <a:r>
              <a:rPr lang="en-US" sz="3466" b="false" i="false" u="none" strike="noStrike">
                <a:solidFill>
                  <a:srgbClr val="4467EF"/>
                </a:solidFill>
                <a:latin typeface="Pretendard Bold"/>
                <a:ea typeface="Pretendard Bold"/>
                <a:cs typeface="Pretendard Bold"/>
              </a:rPr>
              <a:t>학생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56200" y="7493000"/>
            <a:ext cx="60325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400" b="false" i="false" u="none" strike="noStrike">
                <a:solidFill>
                  <a:srgbClr val="3F3F3F"/>
                </a:solidFill>
                <a:latin typeface="Pretendard Regular"/>
                <a:ea typeface="Pretendard Regular"/>
                <a:cs typeface="Pretendard Regular"/>
              </a:rPr>
              <a:t>강의에 대한 이해도 증가</a:t>
            </a:r>
          </a:p>
          <a:p>
            <a:pPr algn="l" lvl="0">
              <a:lnSpc>
                <a:spcPct val="124499"/>
              </a:lnSpc>
            </a:pPr>
            <a:r>
              <a:rPr lang="en-US" sz="2400" b="false" i="false" u="none" strike="noStrike">
                <a:solidFill>
                  <a:srgbClr val="3F3F3F"/>
                </a:solidFill>
                <a:latin typeface="Pretendard Regular"/>
                <a:ea typeface="Pretendard Regular"/>
                <a:cs typeface="Pretendard Regular"/>
              </a:rPr>
              <a:t>학습에 필요한 시간 단축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05000" y="6680200"/>
            <a:ext cx="5613400" cy="622300"/>
          </a:xfrm>
          <a:prstGeom prst="rect">
            <a:avLst/>
          </a:prstGeom>
        </p:spPr>
        <p:txBody>
          <a:bodyPr anchor="t" rtlCol="false" lIns="0" tIns="44027" rIns="0" bIns="0"/>
          <a:lstStyle/>
          <a:p>
            <a:pPr algn="l" lvl="0">
              <a:lnSpc>
                <a:spcPct val="99600"/>
              </a:lnSpc>
            </a:pPr>
            <a:r>
              <a:rPr lang="en-US" sz="3466" b="false" i="false" u="none" strike="noStrike">
                <a:solidFill>
                  <a:srgbClr val="4467EF"/>
                </a:solidFill>
                <a:latin typeface="Pretendard Bold"/>
                <a:ea typeface="Pretendard Bold"/>
                <a:cs typeface="Pretendard Bold"/>
              </a:rPr>
              <a:t>교수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05000" y="7607300"/>
            <a:ext cx="72898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400" b="false" i="false" u="none" strike="noStrike">
                <a:solidFill>
                  <a:srgbClr val="3F3F3F"/>
                </a:solidFill>
                <a:latin typeface="Pretendard Regular"/>
                <a:ea typeface="Pretendard Regular"/>
                <a:cs typeface="Pretendard Regular"/>
              </a:rPr>
              <a:t>학생들에게 추가 설명이 필요한 부분 보충</a:t>
            </a:r>
          </a:p>
          <a:p>
            <a:pPr algn="l" lvl="0">
              <a:lnSpc>
                <a:spcPct val="124499"/>
              </a:lnSpc>
            </a:pPr>
            <a:r>
              <a:rPr lang="en-US" sz="2400" b="false" i="false" u="none" strike="noStrike">
                <a:solidFill>
                  <a:srgbClr val="3F3F3F"/>
                </a:solidFill>
                <a:latin typeface="Pretendard Regular"/>
                <a:ea typeface="Pretendard Regular"/>
                <a:cs typeface="Pretendard Regular"/>
              </a:rPr>
              <a:t>수업 자료 준비 및 효율적인 강의 가능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17800" y="1676400"/>
            <a:ext cx="79756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43434"/>
                </a:solidFill>
                <a:latin typeface="Pretendard ExtraBold"/>
                <a:ea typeface="Pretendard ExtraBold"/>
                <a:cs typeface="Pretendard ExtraBold"/>
              </a:rPr>
              <a:t>기대 효과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69000" y="2019300"/>
            <a:ext cx="6502400" cy="596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l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9E9E9E"/>
                </a:solidFill>
                <a:latin typeface="Pretendard Medium"/>
                <a:ea typeface="Pretendard Medium"/>
                <a:cs typeface="Pretendard Medium"/>
              </a:rPr>
              <a:t>Expectation Effectiveness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38400" y="5880100"/>
            <a:ext cx="2413000" cy="306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458700" y="6045200"/>
            <a:ext cx="1828800" cy="288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89000"/>
            <a:ext cx="22606000" cy="11938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474200" y="4089400"/>
            <a:ext cx="5435600" cy="12192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829300" y="5270500"/>
            <a:ext cx="12725400" cy="3340100"/>
          </a:xfrm>
          <a:prstGeom prst="rect">
            <a:avLst/>
          </a:prstGeom>
        </p:spPr>
        <p:txBody>
          <a:bodyPr anchor="t" rtlCol="false" lIns="0" tIns="238760" rIns="0" bIns="0"/>
          <a:lstStyle/>
          <a:p>
            <a:pPr algn="ctr" lvl="0">
              <a:lnSpc>
                <a:spcPct val="99600"/>
              </a:lnSpc>
            </a:pPr>
            <a:r>
              <a:rPr lang="en-US" sz="18800" b="false" i="false" u="none" strike="noStrike">
                <a:solidFill>
                  <a:srgbClr val="343434"/>
                </a:solidFill>
                <a:latin typeface="Pretendard Black"/>
                <a:ea typeface="Pretendard Black"/>
                <a:cs typeface="Pretendard Black"/>
              </a:rPr>
              <a:t>THANKS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47300" y="4229100"/>
            <a:ext cx="4102100" cy="825500"/>
          </a:xfrm>
          <a:prstGeom prst="rect">
            <a:avLst/>
          </a:prstGeom>
        </p:spPr>
        <p:txBody>
          <a:bodyPr anchor="t" rtlCol="false" lIns="0" tIns="58543" rIns="0" bIns="0"/>
          <a:lstStyle/>
          <a:p>
            <a:pPr algn="ctr" lvl="0">
              <a:lnSpc>
                <a:spcPct val="99600"/>
              </a:lnSpc>
            </a:pPr>
            <a:r>
              <a:rPr lang="en-US" sz="4609" b="false" i="false" u="none" strike="noStrike">
                <a:solidFill>
                  <a:srgbClr val="F6F6F7"/>
                </a:solidFill>
                <a:latin typeface="Pretendard SemiBold"/>
                <a:ea typeface="Pretendard SemiBold"/>
                <a:cs typeface="Pretendard SemiBold"/>
              </a:rPr>
              <a:t>CapsRock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154900" y="9144000"/>
            <a:ext cx="8458200" cy="8470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695700" y="-3987800"/>
            <a:ext cx="8458200" cy="8470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