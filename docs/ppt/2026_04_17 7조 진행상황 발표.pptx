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embeddedFontLst>
    <p:embeddedFont>
      <p:font typeface="Pretendard Bold" panose="020B0600000101010101" charset="-127"/>
      <p:bold r:id="rId14"/>
    </p:embeddedFont>
    <p:embeddedFont>
      <p:font typeface="Pretendard ExtraBold" panose="020B0600000101010101" charset="-127"/>
      <p:bold r:id="rId15"/>
    </p:embeddedFont>
    <p:embeddedFont>
      <p:font typeface="Pretendard Light" panose="020B0600000101010101" charset="-127"/>
      <p:regular r:id="rId16"/>
    </p:embeddedFont>
    <p:embeddedFont>
      <p:font typeface="Pretendard Medium" panose="020B0600000101010101" charset="-127"/>
      <p:bold r:id="rId17"/>
    </p:embeddedFont>
    <p:embeddedFont>
      <p:font typeface="Pretendard Regular" panose="020B0600000101010101" charset="-127"/>
      <p:regular r:id="rId18"/>
    </p:embeddedFont>
    <p:embeddedFont>
      <p:font typeface="Pretendard SemiBold" panose="020B0600000101010101" charset="-127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65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1612900"/>
            <a:ext cx="21107400" cy="11290300"/>
          </a:xfrm>
          <a:prstGeom prst="rect">
            <a:avLst/>
          </a:prstGeom>
          <a:effectLst>
            <a:outerShdw blurRad="282194" dist="86829" dir="5400000">
              <a:srgbClr val="141618">
                <a:alpha val="6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700" y="8267700"/>
            <a:ext cx="2260600" cy="21209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947400" y="12103100"/>
            <a:ext cx="3238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474A58"/>
                </a:solidFill>
                <a:latin typeface="Pretendard Regular"/>
                <a:ea typeface="Pretendard Regular"/>
                <a:cs typeface="Pretendard Regular"/>
              </a:rPr>
              <a:t>백준하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48900" y="12103100"/>
            <a:ext cx="1485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이름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45400" y="12103100"/>
            <a:ext cx="24892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474A58"/>
                </a:solidFill>
                <a:latin typeface="Pretendard Regular"/>
                <a:ea typeface="Pretendard Regular"/>
                <a:cs typeface="Pretendard Regular"/>
              </a:rPr>
              <a:t>2021011896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32600" y="12103100"/>
            <a:ext cx="673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학번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0" y="12103100"/>
            <a:ext cx="3340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474A58"/>
                </a:solidFill>
                <a:latin typeface="Pretendard Regular"/>
                <a:ea typeface="Pretendard Regular"/>
                <a:cs typeface="Pretendard Regular"/>
              </a:rPr>
              <a:t>인공지능소프트웨어학과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36800" y="12103100"/>
            <a:ext cx="1104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학과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113500" y="12090400"/>
            <a:ext cx="3009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 spc="-100">
                <a:solidFill>
                  <a:srgbClr val="474A58"/>
                </a:solidFill>
                <a:latin typeface="Pretendard Regular"/>
                <a:ea typeface="Pretendard Regular"/>
                <a:cs typeface="Pretendard Regular"/>
              </a:rPr>
              <a:t>2026.04.17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40600" y="6680200"/>
            <a:ext cx="9715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474A58"/>
                </a:solidFill>
                <a:latin typeface="Pretendard Regular"/>
                <a:ea typeface="Pretendard Regular"/>
                <a:cs typeface="Pretendard Regular"/>
              </a:rPr>
              <a:t>2026 캡스톤 디자인 졸업작품 프로젝트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40300" y="4394200"/>
            <a:ext cx="14528800" cy="232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3066" b="0" i="0" u="none" strike="noStrike" spc="-300">
                <a:solidFill>
                  <a:srgbClr val="141618"/>
                </a:solidFill>
                <a:latin typeface="Pretendard ExtraBold"/>
                <a:ea typeface="Pretendard ExtraBold"/>
                <a:cs typeface="Pretendard ExtraBold"/>
              </a:rPr>
              <a:t>에듀메이트 중간 점검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02800" y="3746500"/>
            <a:ext cx="50165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333" b="0" i="0" u="none" strike="noStrike" spc="-200">
                <a:solidFill>
                  <a:srgbClr val="141618"/>
                </a:solidFill>
                <a:latin typeface="Pretendard Medium"/>
                <a:ea typeface="Pretendard Medium"/>
                <a:cs typeface="Pretendard Medium"/>
              </a:rPr>
              <a:t> CapsRock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1612900"/>
            <a:ext cx="21107400" cy="11290300"/>
          </a:xfrm>
          <a:prstGeom prst="rect">
            <a:avLst/>
          </a:prstGeom>
          <a:effectLst>
            <a:outerShdw blurRad="282194" dist="86829" dir="5400000">
              <a:srgbClr val="141618">
                <a:alpha val="6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300" y="2438400"/>
            <a:ext cx="19329400" cy="229870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87E4C4-4625-B0B3-4A2D-E244D4E26C4C}"/>
              </a:ext>
            </a:extLst>
          </p:cNvPr>
          <p:cNvGrpSpPr/>
          <p:nvPr/>
        </p:nvGrpSpPr>
        <p:grpSpPr>
          <a:xfrm>
            <a:off x="12420600" y="8039100"/>
            <a:ext cx="2908300" cy="2044700"/>
            <a:chOff x="13487400" y="8039100"/>
            <a:chExt cx="2908300" cy="20447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779500" y="9067800"/>
              <a:ext cx="2336800" cy="25400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3487400" y="9448800"/>
              <a:ext cx="2908300" cy="635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3600" b="0" i="0" u="none" strike="noStrike" spc="-100">
                  <a:solidFill>
                    <a:srgbClr val="141618"/>
                  </a:solidFill>
                  <a:latin typeface="Pretendard Regular"/>
                  <a:ea typeface="Pretendard Regular"/>
                  <a:cs typeface="Pretendard Regular"/>
                </a:rPr>
                <a:t>DB 보완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363700" y="8039100"/>
              <a:ext cx="1168400" cy="1041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5866" b="0" i="0" u="none" strike="noStrike" spc="-200" dirty="0">
                  <a:solidFill>
                    <a:srgbClr val="1187CF"/>
                  </a:solidFill>
                  <a:latin typeface="Pretendard Medium"/>
                  <a:ea typeface="Pretendard Medium"/>
                  <a:cs typeface="Pretendard Medium"/>
                </a:rPr>
                <a:t>03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D7289EA-58F8-5073-B50E-C2C4441A1D50}"/>
              </a:ext>
            </a:extLst>
          </p:cNvPr>
          <p:cNvGrpSpPr/>
          <p:nvPr/>
        </p:nvGrpSpPr>
        <p:grpSpPr>
          <a:xfrm>
            <a:off x="8352825" y="8039100"/>
            <a:ext cx="2908300" cy="2044700"/>
            <a:chOff x="7975600" y="8039100"/>
            <a:chExt cx="2908300" cy="20447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67700" y="9067800"/>
              <a:ext cx="2336800" cy="254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7975600" y="9448800"/>
              <a:ext cx="2908300" cy="635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3600" b="0" i="0" u="none" strike="noStrike" spc="-100">
                  <a:solidFill>
                    <a:srgbClr val="141618"/>
                  </a:solidFill>
                  <a:latin typeface="Pretendard Regular"/>
                  <a:ea typeface="Pretendard Regular"/>
                  <a:cs typeface="Pretendard Regular"/>
                </a:rPr>
                <a:t>AI 요약 다듬기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90000" y="8039100"/>
              <a:ext cx="1117600" cy="1041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5866" b="0" i="0" u="none" strike="noStrike" spc="-200" dirty="0">
                  <a:solidFill>
                    <a:srgbClr val="1187CF"/>
                  </a:solidFill>
                  <a:latin typeface="Pretendard Medium"/>
                  <a:ea typeface="Pretendard Medium"/>
                  <a:cs typeface="Pretendard Medium"/>
                </a:rPr>
                <a:t>02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673600" y="3225800"/>
            <a:ext cx="150368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40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4월 16일자 7조 진행 상황 및 시도한 것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2045FBA-F74D-3597-8A79-A5D3DB0EE04F}"/>
              </a:ext>
            </a:extLst>
          </p:cNvPr>
          <p:cNvGrpSpPr/>
          <p:nvPr/>
        </p:nvGrpSpPr>
        <p:grpSpPr>
          <a:xfrm>
            <a:off x="16448903" y="8039100"/>
            <a:ext cx="2908300" cy="2044700"/>
            <a:chOff x="19011900" y="8039100"/>
            <a:chExt cx="2908300" cy="2044700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291300" y="9067800"/>
              <a:ext cx="2336800" cy="254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19011900" y="9448800"/>
              <a:ext cx="2908300" cy="635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3600" b="0" i="0" u="none" strike="noStrike" spc="-100">
                  <a:solidFill>
                    <a:srgbClr val="141618"/>
                  </a:solidFill>
                  <a:latin typeface="Pretendard Regular"/>
                  <a:ea typeface="Pretendard Regular"/>
                  <a:cs typeface="Pretendard Regular"/>
                </a:rPr>
                <a:t>요약 한계 확인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888200" y="8039100"/>
              <a:ext cx="1168400" cy="1041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5866" b="0" i="0" u="none" strike="noStrike" spc="-200" dirty="0">
                  <a:solidFill>
                    <a:srgbClr val="1187CF"/>
                  </a:solidFill>
                  <a:latin typeface="Pretendard Medium"/>
                  <a:ea typeface="Pretendard Medium"/>
                  <a:cs typeface="Pretendard Medium"/>
                </a:rPr>
                <a:t>04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0A71859-B797-CD5E-5364-2BAEB3672FED}"/>
              </a:ext>
            </a:extLst>
          </p:cNvPr>
          <p:cNvGrpSpPr/>
          <p:nvPr/>
        </p:nvGrpSpPr>
        <p:grpSpPr>
          <a:xfrm>
            <a:off x="4326925" y="8039100"/>
            <a:ext cx="2908300" cy="2044700"/>
            <a:chOff x="2463800" y="8039100"/>
            <a:chExt cx="2908300" cy="204470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43200" y="9067800"/>
              <a:ext cx="2336800" cy="254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463800" y="9448800"/>
              <a:ext cx="2908300" cy="6350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3600" b="0" i="0" u="none" strike="noStrike" spc="-100" dirty="0">
                  <a:solidFill>
                    <a:srgbClr val="141618"/>
                  </a:solidFill>
                  <a:latin typeface="Pretendard Regular"/>
                  <a:ea typeface="Pretendard Regular"/>
                  <a:cs typeface="Pretendard Regular"/>
                </a:rPr>
                <a:t>UI </a:t>
              </a:r>
              <a:r>
                <a:rPr lang="en-US" sz="3600" b="0" i="0" u="none" strike="noStrike" spc="-100" dirty="0" err="1">
                  <a:solidFill>
                    <a:srgbClr val="141618"/>
                  </a:solidFill>
                  <a:latin typeface="Pretendard Regular"/>
                  <a:ea typeface="Pretendard Regular"/>
                  <a:cs typeface="Pretendard Regular"/>
                </a:rPr>
                <a:t>추가</a:t>
              </a:r>
              <a:r>
                <a:rPr lang="en-US" sz="3600" b="0" i="0" u="none" strike="noStrike" spc="-100" dirty="0">
                  <a:solidFill>
                    <a:srgbClr val="141618"/>
                  </a:solidFill>
                  <a:latin typeface="Pretendard Regular"/>
                  <a:ea typeface="Pretendard Regular"/>
                  <a:cs typeface="Pretendard Regular"/>
                </a:rPr>
                <a:t> </a:t>
              </a:r>
              <a:r>
                <a:rPr lang="en-US" sz="3600" b="0" i="0" u="none" strike="noStrike" spc="-100" dirty="0" err="1">
                  <a:solidFill>
                    <a:srgbClr val="141618"/>
                  </a:solidFill>
                  <a:latin typeface="Pretendard Regular"/>
                  <a:ea typeface="Pretendard Regular"/>
                  <a:cs typeface="Pretendard Regular"/>
                </a:rPr>
                <a:t>기능</a:t>
              </a:r>
              <a:endParaRPr lang="en-US" sz="3600" b="0" i="0" u="none" strike="noStrike" spc="-100" dirty="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52800" y="8039100"/>
              <a:ext cx="1028700" cy="1041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5866" b="0" i="0" u="none" strike="noStrike" spc="-200" dirty="0">
                  <a:solidFill>
                    <a:srgbClr val="1187CF"/>
                  </a:solidFill>
                  <a:latin typeface="Pretendard Medium"/>
                  <a:ea typeface="Pretendard Medium"/>
                  <a:cs typeface="Pretendard Medium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959100"/>
            <a:ext cx="21742400" cy="10058400"/>
          </a:xfrm>
          <a:prstGeom prst="rect">
            <a:avLst/>
          </a:prstGeom>
          <a:effectLst>
            <a:outerShdw blurRad="201107" dist="77349" dir="5400000">
              <a:srgbClr val="141618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2100" y="9080500"/>
            <a:ext cx="7810500" cy="3327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2100" y="4533900"/>
            <a:ext cx="7810500" cy="3327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3251200"/>
            <a:ext cx="10134600" cy="9474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55700" y="9944100"/>
            <a:ext cx="6083300" cy="161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33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강의 제목, 유튜브 입력 후</a:t>
            </a:r>
          </a:p>
          <a:p>
            <a:pPr lvl="0" algn="ctr">
              <a:lnSpc>
                <a:spcPct val="116199"/>
              </a:lnSpc>
            </a:pPr>
            <a:r>
              <a:rPr lang="en-US" sz="3033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강의 제목, 유튜브 링크와 썸네일 출력 후</a:t>
            </a:r>
          </a:p>
          <a:p>
            <a:pPr lvl="0" algn="ctr">
              <a:lnSpc>
                <a:spcPct val="116199"/>
              </a:lnSpc>
            </a:pPr>
            <a:r>
              <a:rPr lang="en-US" sz="3033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분석 중 로딩 화면이 나오게 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04800" y="5664200"/>
            <a:ext cx="77851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34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강의 제목, 유튜브 입력 후</a:t>
            </a:r>
          </a:p>
          <a:p>
            <a:pPr lvl="0" algn="ctr">
              <a:lnSpc>
                <a:spcPct val="116199"/>
              </a:lnSpc>
            </a:pPr>
            <a:r>
              <a:rPr lang="en-US" sz="3034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강의 제목, 유튜브 링크, 분석 중 화면이 뜨지 않았음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00" y="1587500"/>
            <a:ext cx="21831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요약 중 로딩 화면 개발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8900" y="838200"/>
            <a:ext cx="2717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01 UI 추가 기능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92100" y="3441700"/>
            <a:ext cx="14224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55600" y="7988300"/>
            <a:ext cx="14224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현재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959100"/>
            <a:ext cx="21742400" cy="10058400"/>
          </a:xfrm>
          <a:prstGeom prst="rect">
            <a:avLst/>
          </a:prstGeom>
          <a:effectLst>
            <a:outerShdw blurRad="201107" dist="77349" dir="5400000">
              <a:srgbClr val="141618">
                <a:alpha val="40000"/>
              </a:srgbClr>
            </a:outerShdw>
          </a:effectLst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2992100" y="4533900"/>
          <a:ext cx="9456420" cy="3473048"/>
        </p:xfrm>
        <a:graphic>
          <a:graphicData uri="http://schemas.openxmlformats.org/drawingml/2006/table">
            <a:tbl>
              <a:tblPr/>
              <a:tblGrid>
                <a:gridCol w="216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204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199" b="1" i="0" u="none" strike="noStrike" spc="-100">
                          <a:solidFill>
                            <a:srgbClr val="1187CF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한국어 형태소 분석기 "Kiwipiepy"라는 파이썬 모듈 사용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2204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199" b="0" i="0" u="none" strike="noStrike" spc="-100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추출한 음성을 텍스트로 출력 전에 전처리 작업 수행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640">
                <a:tc grid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3199" b="0" i="0" u="none" strike="noStrike" spc="-100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Kiwi 객체 생성 후 문장을 형태소 분석,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3199" b="0" i="0" u="none" strike="noStrike" spc="-100">
                          <a:solidFill>
                            <a:srgbClr val="000000"/>
                          </a:solidFill>
                          <a:latin typeface="Pretendard Bold"/>
                          <a:ea typeface="Pretendard Bold"/>
                          <a:cs typeface="Pretendard Bold"/>
                        </a:rPr>
                        <a:t>품사 추출, 띄어쓰기 교정 등 수행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8A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358900" y="1562100"/>
            <a:ext cx="21831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데이터 전처리 기능 개발 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58900" y="838200"/>
            <a:ext cx="32639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02 AI 요약 다듬기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300" y="9906000"/>
            <a:ext cx="7975600" cy="2781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700" y="3276600"/>
            <a:ext cx="7924800" cy="694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92100" y="10020300"/>
            <a:ext cx="9461500" cy="2057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614400" y="10769600"/>
            <a:ext cx="8191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99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미완성 기능이라 정확도 상승을 위해 개발 중임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375069">
            <a:off x="17119600" y="8940800"/>
            <a:ext cx="11938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0960100"/>
            <a:ext cx="21742400" cy="1778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0700" y="3263900"/>
            <a:ext cx="5676900" cy="7251700"/>
          </a:xfrm>
          <a:prstGeom prst="rect">
            <a:avLst/>
          </a:prstGeom>
          <a:effectLst>
            <a:outerShdw blurRad="113653" dist="43713" dir="5400000">
              <a:srgbClr val="141618">
                <a:alpha val="4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300" y="3263900"/>
            <a:ext cx="5676900" cy="7251700"/>
          </a:xfrm>
          <a:prstGeom prst="rect">
            <a:avLst/>
          </a:prstGeom>
          <a:effectLst>
            <a:outerShdw blurRad="113653" dist="43713" dir="5400000">
              <a:srgbClr val="141618">
                <a:alpha val="4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0" y="3263900"/>
            <a:ext cx="5676900" cy="7251700"/>
          </a:xfrm>
          <a:prstGeom prst="rect">
            <a:avLst/>
          </a:prstGeom>
          <a:effectLst>
            <a:outerShdw blurRad="113653" dist="43713" dir="5400000">
              <a:srgbClr val="141618">
                <a:alpha val="40000"/>
              </a:srgbClr>
            </a:outerShdw>
          </a:effec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3263900"/>
            <a:ext cx="5676900" cy="7239000"/>
          </a:xfrm>
          <a:prstGeom prst="rect">
            <a:avLst/>
          </a:prstGeom>
          <a:effectLst>
            <a:outerShdw blurRad="113580" dist="43685" dir="5400000">
              <a:srgbClr val="141618">
                <a:alpha val="40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16700" y="5232400"/>
            <a:ext cx="3657600" cy="355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55600" y="5067300"/>
            <a:ext cx="4178300" cy="364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1200" y="4978400"/>
            <a:ext cx="4318000" cy="3797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80100" y="3543300"/>
            <a:ext cx="5118100" cy="1270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85700" y="3543300"/>
            <a:ext cx="5118100" cy="1270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4800" y="3543300"/>
            <a:ext cx="5118100" cy="1270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2300" y="3543300"/>
            <a:ext cx="5118100" cy="1270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857500" y="11480800"/>
            <a:ext cx="185293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이상적인 데이터셋을 완성해 둔 훈련 코드 가동하여 Qwen 모델에 최종 학습 진행할 예정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656300" y="9309100"/>
            <a:ext cx="4991100" cy="101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7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원스톱 추출 로직 완성하고</a:t>
            </a:r>
          </a:p>
          <a:p>
            <a:pPr lvl="0" algn="ctr">
              <a:lnSpc>
                <a:spcPct val="116199"/>
              </a:lnSpc>
            </a:pPr>
            <a:r>
              <a:rPr lang="en-US" sz="287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테스트 완료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61900" y="9309100"/>
            <a:ext cx="4991100" cy="101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7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모델의 전체가 아닌 핵심만</a:t>
            </a:r>
          </a:p>
          <a:p>
            <a:pPr lvl="0" algn="ctr">
              <a:lnSpc>
                <a:spcPct val="116199"/>
              </a:lnSpc>
            </a:pPr>
            <a:r>
              <a:rPr lang="en-US" sz="287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학습시키는 QLoRA 기법 적용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18300" y="9563100"/>
            <a:ext cx="4991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72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2분 단위 분할 알고리즘 구현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2600" y="9309100"/>
            <a:ext cx="5384800" cy="1016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87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기존 모델의 문맥 파악 한계 인지</a:t>
            </a:r>
          </a:p>
          <a:p>
            <a:pPr lvl="0" algn="ctr">
              <a:lnSpc>
                <a:spcPct val="116199"/>
              </a:lnSpc>
            </a:pPr>
            <a:r>
              <a:rPr lang="en-US" sz="287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최신 대형 언어 모델 Qwen으로 교체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529300" y="3835400"/>
            <a:ext cx="5245100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35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파이프라인 통합 테스트 성공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60300" y="3835400"/>
            <a:ext cx="5194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2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실전 파인튜닝 환경 구축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13600" y="3835400"/>
            <a:ext cx="40005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2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타임라인 청킹 도입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000" y="3835400"/>
            <a:ext cx="4318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18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베이스 모델 교체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8900" y="1587500"/>
            <a:ext cx="21831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요약 AI 파트 진행 상황 요약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8900" y="838200"/>
            <a:ext cx="33274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02 AI 요약 다듬기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3800" y="4902200"/>
            <a:ext cx="3975100" cy="397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959100"/>
            <a:ext cx="21742400" cy="10058400"/>
          </a:xfrm>
          <a:prstGeom prst="rect">
            <a:avLst/>
          </a:prstGeom>
          <a:effectLst>
            <a:outerShdw blurRad="201107" dist="77349" dir="5400000">
              <a:srgbClr val="141618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2100" y="8699500"/>
            <a:ext cx="7810500" cy="3327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2100" y="4533900"/>
            <a:ext cx="7810500" cy="3327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3251200"/>
            <a:ext cx="10134600" cy="9474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836900" y="10134600"/>
            <a:ext cx="4140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4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불필요한 재분석 방지로 처리 속도 향상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36900" y="6019800"/>
            <a:ext cx="3911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4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사용자 입장 이전 학습 내용 복습 편리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8900" y="1587500"/>
            <a:ext cx="21831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히스토리 기능 추가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8900" y="838200"/>
            <a:ext cx="2717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03 DB 보완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5308600"/>
            <a:ext cx="1778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38200" y="9423400"/>
            <a:ext cx="1778000" cy="177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9200" y="4127500"/>
            <a:ext cx="1384300" cy="1384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950200" y="5664200"/>
            <a:ext cx="31750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15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 히스토리 메뉴로 확인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900" y="2679700"/>
            <a:ext cx="18288000" cy="6972300"/>
          </a:xfrm>
          <a:prstGeom prst="rect">
            <a:avLst/>
          </a:prstGeom>
          <a:effectLst>
            <a:outerShdw blurRad="139407" dist="53618" dir="5400000">
              <a:srgbClr val="141618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6692900"/>
            <a:ext cx="139573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6200" y="3073400"/>
            <a:ext cx="5143500" cy="1181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400" y="3073400"/>
            <a:ext cx="5143500" cy="118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54300" y="3352800"/>
            <a:ext cx="533400" cy="533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300" y="3352800"/>
            <a:ext cx="482600" cy="533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11798300" y="4902200"/>
            <a:ext cx="762000" cy="1143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>
            <a:alphaModFix amt="35000"/>
          </a:blip>
          <a:stretch>
            <a:fillRect/>
          </a:stretch>
        </p:blipFill>
        <p:spPr>
          <a:xfrm>
            <a:off x="11798300" y="7277100"/>
            <a:ext cx="762000" cy="11430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995400" y="7378700"/>
            <a:ext cx="52451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개인화된 학습 기록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관리 기반 확보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46700" y="7378700"/>
            <a:ext cx="49530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사용자별 강의 및 요약 데이터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구분, 관리 구조 구현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87500" y="4838700"/>
            <a:ext cx="46482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사용자 데이터 지속적 관리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및 활용 가능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700" y="4838700"/>
            <a:ext cx="50292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회원 정보 DB에 저장하여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체계적으로 관리 가능토록 개선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090900" y="3289300"/>
            <a:ext cx="22733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기대 효과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24700" y="3289300"/>
            <a:ext cx="22733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기능 확장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8900" y="1562100"/>
            <a:ext cx="21831300" cy="181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DB 기능 확장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8900" y="838200"/>
            <a:ext cx="38735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03 DB 보완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5900" y="10528300"/>
            <a:ext cx="13779500" cy="2806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5375069">
            <a:off x="11595100" y="9855200"/>
            <a:ext cx="1193800" cy="152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6121400" y="11595100"/>
            <a:ext cx="121412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733" b="0" i="0" u="none" strike="noStrike" spc="-100">
                <a:solidFill>
                  <a:srgbClr val="062F48"/>
                </a:solidFill>
                <a:latin typeface="Pretendard Regular"/>
                <a:ea typeface="Pretendard Regular"/>
                <a:cs typeface="Pretendard Regular"/>
              </a:rPr>
              <a:t>향후 사용자 맞춤형 기능 확장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959100"/>
            <a:ext cx="21742400" cy="10058400"/>
          </a:xfrm>
          <a:prstGeom prst="rect">
            <a:avLst/>
          </a:prstGeom>
          <a:effectLst>
            <a:outerShdw blurRad="201107" dist="77349" dir="5400000">
              <a:srgbClr val="141618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2100" y="11214100"/>
            <a:ext cx="7810500" cy="129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92100" y="3759200"/>
            <a:ext cx="7810500" cy="3327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3251200"/>
            <a:ext cx="10134600" cy="9474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836900" y="10134600"/>
            <a:ext cx="41402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4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불필요한 재분석 방지로 처리 속도 향상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836900" y="5245100"/>
            <a:ext cx="45974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4" b="1" i="0" u="none" strike="noStrike" spc="-100" dirty="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GPT API </a:t>
            </a:r>
            <a:r>
              <a:rPr lang="en-US" sz="2064" b="1" i="0" u="none" strike="noStrike" spc="-100" dirty="0" err="1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요약본</a:t>
            </a:r>
            <a:endParaRPr lang="en-US" sz="2064" b="1" i="0" u="none" strike="noStrike" spc="-100" dirty="0">
              <a:solidFill>
                <a:srgbClr val="141618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064" b="0" i="0" u="none" strike="noStrike" spc="-100" dirty="0" err="1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단순</a:t>
            </a:r>
            <a:r>
              <a:rPr lang="en-US" sz="2064" b="0" i="0" u="none" strike="noStrike" spc="-100" dirty="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064" b="0" i="0" u="none" strike="noStrike" spc="-100" dirty="0" err="1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줄글</a:t>
            </a:r>
            <a:r>
              <a:rPr lang="en-US" sz="2064" b="0" i="0" u="none" strike="noStrike" spc="-100" dirty="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064" b="0" i="0" u="none" strike="noStrike" spc="-100" dirty="0" err="1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요약</a:t>
            </a:r>
            <a:r>
              <a:rPr lang="en-US" sz="2064" b="0" i="0" u="none" strike="noStrike" spc="-100" dirty="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 -&gt; </a:t>
            </a:r>
            <a:r>
              <a:rPr lang="en-US" sz="2064" b="0" i="0" u="none" strike="noStrike" spc="-100" dirty="0" err="1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구조화된</a:t>
            </a:r>
            <a:r>
              <a:rPr lang="en-US" sz="2064" b="0" i="0" u="none" strike="noStrike" spc="-100" dirty="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064" b="0" i="0" u="none" strike="noStrike" spc="-100" dirty="0" err="1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요약으로</a:t>
            </a:r>
            <a:r>
              <a:rPr lang="en-US" sz="2064" b="0" i="0" u="none" strike="noStrike" spc="-100" dirty="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064" b="0" i="0" u="none" strike="noStrike" spc="-100" dirty="0" err="1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개선</a:t>
            </a:r>
            <a:endParaRPr lang="en-US" sz="2064" b="0" i="0" u="none" strike="noStrike" spc="-100" dirty="0">
              <a:solidFill>
                <a:srgbClr val="14161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58900" y="1587500"/>
            <a:ext cx="21831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GPT API 활용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8900" y="838200"/>
            <a:ext cx="33401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04 요약 한계 확인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200" y="9423400"/>
            <a:ext cx="1778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95300" y="4191000"/>
            <a:ext cx="2489200" cy="248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2100" y="7213600"/>
            <a:ext cx="7810500" cy="3606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3271500" y="11341100"/>
            <a:ext cx="72517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64" b="1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기존 음성 녹음본</a:t>
            </a:r>
          </a:p>
          <a:p>
            <a:pPr lvl="0" algn="ctr">
              <a:lnSpc>
                <a:spcPct val="116199"/>
              </a:lnSpc>
            </a:pPr>
            <a:r>
              <a:rPr lang="en-US" sz="2064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화자의 발음 정확도에 따라 품질 편차가 발생함</a:t>
            </a:r>
          </a:p>
          <a:p>
            <a:pPr lvl="0" algn="ctr">
              <a:lnSpc>
                <a:spcPct val="116199"/>
              </a:lnSpc>
            </a:pPr>
            <a:r>
              <a:rPr lang="en-US" sz="2064" b="0" i="0" u="none" strike="noStrike" spc="-100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전체적으로 요약 품질 낮음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45900" y="4953000"/>
            <a:ext cx="1549400" cy="1320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6713200" y="10553700"/>
            <a:ext cx="368300" cy="736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054100"/>
            <a:ext cx="15455900" cy="11620500"/>
          </a:xfrm>
          <a:prstGeom prst="rect">
            <a:avLst/>
          </a:prstGeom>
          <a:effectLst>
            <a:outerShdw blurRad="232338" dist="89361" dir="5400000">
              <a:srgbClr val="141618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451100"/>
            <a:ext cx="14986000" cy="431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8900" y="8064500"/>
            <a:ext cx="13779500" cy="304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19392900" y="4051300"/>
            <a:ext cx="7620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15532100" y="4076700"/>
            <a:ext cx="7620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11430000" y="4140200"/>
            <a:ext cx="762000" cy="114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377010">
            <a:off x="15227300" y="7404100"/>
            <a:ext cx="1295400" cy="38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9804400" y="9296400"/>
            <a:ext cx="121412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733" b="0" i="0" u="none" strike="noStrike" spc="-100">
                <a:solidFill>
                  <a:srgbClr val="062F48"/>
                </a:solidFill>
                <a:latin typeface="Pretendard Regular"/>
                <a:ea typeface="Pretendard Regular"/>
                <a:cs typeface="Pretendard Regular"/>
              </a:rPr>
              <a:t>DB 저장 및 사용자에게 결과 제공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786600" y="2921000"/>
            <a:ext cx="35814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GPT기반 요약 생성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30600" y="2921000"/>
            <a:ext cx="3225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전처리 및 청킹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82500" y="2921000"/>
            <a:ext cx="3225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음성 텍스트 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34400" y="2921000"/>
            <a:ext cx="35052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음성 추출(yt-dlp)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2800" y="1892300"/>
            <a:ext cx="68326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GPT 연결 후 시스템 흐름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7000" y="5321300"/>
            <a:ext cx="5486400" cy="5486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0500" y="4038600"/>
            <a:ext cx="1955800" cy="1346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42900" y="3822700"/>
            <a:ext cx="1905000" cy="1905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25900" y="3670300"/>
            <a:ext cx="2235200" cy="2235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66000" y="3162300"/>
            <a:ext cx="3238500" cy="32385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812800" y="1054100"/>
            <a:ext cx="3860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04 요약 한계 확인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688300" y="5892800"/>
            <a:ext cx="1981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129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현재 Qwen</a:t>
            </a:r>
          </a:p>
          <a:p>
            <a:pPr lvl="0" algn="ctr">
              <a:lnSpc>
                <a:spcPct val="116199"/>
              </a:lnSpc>
            </a:pPr>
            <a:r>
              <a:rPr lang="en-US" sz="2129" b="0" i="0" u="none" strike="noStrike">
                <a:solidFill>
                  <a:srgbClr val="1187CF"/>
                </a:solidFill>
                <a:latin typeface="Pretendard Bold"/>
                <a:ea typeface="Pretendard Bold"/>
                <a:cs typeface="Pretendard Bold"/>
              </a:rPr>
              <a:t>학습 진행중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900" y="6096000"/>
            <a:ext cx="7061200" cy="6921500"/>
          </a:xfrm>
          <a:prstGeom prst="rect">
            <a:avLst/>
          </a:prstGeom>
          <a:effectLst>
            <a:outerShdw blurRad="138401" dist="53231" dir="5400000">
              <a:srgbClr val="141618">
                <a:alpha val="4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00" y="6096000"/>
            <a:ext cx="7061200" cy="6921500"/>
          </a:xfrm>
          <a:prstGeom prst="rect">
            <a:avLst/>
          </a:prstGeom>
          <a:effectLst>
            <a:outerShdw blurRad="138401" dist="53231" dir="5400000">
              <a:srgbClr val="141618">
                <a:alpha val="40000"/>
              </a:srgbClr>
            </a:outerShdw>
          </a:effectLst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9400" y="10490200"/>
            <a:ext cx="6426200" cy="220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10490200"/>
            <a:ext cx="6426200" cy="2209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49400" y="6375400"/>
            <a:ext cx="64262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6375400"/>
            <a:ext cx="64262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16979900" y="5562600"/>
            <a:ext cx="1016000" cy="38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390669">
            <a:off x="6261100" y="5588000"/>
            <a:ext cx="9779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3022600"/>
            <a:ext cx="21742400" cy="20574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681200" y="11087100"/>
            <a:ext cx="5600700" cy="1028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06" b="0" i="0" u="none" strike="noStrike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서비스 규모 확장 시 비용 증가 가능성</a:t>
            </a:r>
          </a:p>
          <a:p>
            <a:pPr lvl="0" algn="l">
              <a:lnSpc>
                <a:spcPct val="116199"/>
              </a:lnSpc>
            </a:pPr>
            <a:r>
              <a:rPr lang="en-US" sz="2906" b="0" i="0" u="none" strike="noStrike">
                <a:solidFill>
                  <a:srgbClr val="141618"/>
                </a:solidFill>
                <a:latin typeface="Pretendard Regular"/>
                <a:ea typeface="Pretendard Regular"/>
                <a:cs typeface="Pretendard Regular"/>
              </a:rPr>
              <a:t>비용 분담 및 운영 방식 추가 논의 필요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325600" y="8763000"/>
            <a:ext cx="6286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요청량에 따라 지속적인 비용 발생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59200" y="8509000"/>
            <a:ext cx="59817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오픈 소스가 아니기에</a:t>
            </a:r>
          </a:p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내부 모델 구조 제어 / 수정 불가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19300" y="6642100"/>
            <a:ext cx="54102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비용 발생 문제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56000" y="6642100"/>
            <a:ext cx="6350000" cy="762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외부 API 의존성 문제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77200" y="3644900"/>
            <a:ext cx="82423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533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GPT API 연결 문제점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69100" y="3238500"/>
            <a:ext cx="1333500" cy="151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8533" b="0" i="0" u="none" strike="noStrike" spc="-200">
                <a:solidFill>
                  <a:srgbClr val="B8E9FF"/>
                </a:solidFill>
                <a:latin typeface="Pretendard Light"/>
                <a:ea typeface="Pretendard Light"/>
                <a:cs typeface="Pretendard Light"/>
              </a:rPr>
              <a:t>[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294100" y="3238500"/>
            <a:ext cx="1333500" cy="151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8533" b="0" i="0" u="none" strike="noStrike" spc="-200">
                <a:solidFill>
                  <a:srgbClr val="B8E9FF"/>
                </a:solidFill>
                <a:latin typeface="Pretendard Light"/>
                <a:ea typeface="Pretendard Light"/>
                <a:cs typeface="Pretendard Light"/>
              </a:rPr>
              <a:t>]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8900" y="1587500"/>
            <a:ext cx="21831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GPT API 연결 문제점 발생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58900" y="838200"/>
            <a:ext cx="3860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04 요약 한계 확인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49700" y="11315700"/>
            <a:ext cx="55626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4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완전한 독립 시스템 구축 어려움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2959100"/>
            <a:ext cx="23266400" cy="10058400"/>
          </a:xfrm>
          <a:prstGeom prst="rect">
            <a:avLst/>
          </a:prstGeom>
          <a:effectLst>
            <a:outerShdw blurRad="201107" dist="77349" dir="5400000">
              <a:srgbClr val="141618">
                <a:alpha val="40000"/>
              </a:srgbClr>
            </a:outerShdw>
          </a:effectLst>
        </p:spPr>
      </p:pic>
      <p:sp>
        <p:nvSpPr>
          <p:cNvPr id="4" name="TextBox 4"/>
          <p:cNvSpPr txBox="1"/>
          <p:nvPr/>
        </p:nvSpPr>
        <p:spPr>
          <a:xfrm>
            <a:off x="1358900" y="1587500"/>
            <a:ext cx="21831300" cy="876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4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7조 현 추진일정 진행상황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00" y="3276600"/>
            <a:ext cx="9474200" cy="9398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6100" y="10401300"/>
            <a:ext cx="457200" cy="45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86100" y="11099800"/>
            <a:ext cx="457200" cy="45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6100" y="11811000"/>
            <a:ext cx="457200" cy="457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357600" y="10401300"/>
            <a:ext cx="21590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52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진행 완료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57600" y="11099800"/>
            <a:ext cx="21590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52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진행 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57600" y="11811000"/>
            <a:ext cx="21590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52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진행 예정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1612900"/>
            <a:ext cx="21107400" cy="11290300"/>
          </a:xfrm>
          <a:prstGeom prst="rect">
            <a:avLst/>
          </a:prstGeom>
          <a:effectLst>
            <a:outerShdw blurRad="282194" dist="86829" dir="5400000">
              <a:srgbClr val="141618">
                <a:alpha val="6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1700" y="8623300"/>
            <a:ext cx="2260600" cy="21209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940300" y="6019800"/>
            <a:ext cx="14528800" cy="232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3066" b="0" i="0" u="none" strike="noStrike" spc="-300">
                <a:solidFill>
                  <a:srgbClr val="141618"/>
                </a:solidFill>
                <a:latin typeface="Pretendard ExtraBold"/>
                <a:ea typeface="Pretendard ExtraBold"/>
                <a:cs typeface="Pretendard Extra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424</Words>
  <Application>Microsoft Office PowerPoint</Application>
  <PresentationFormat>사용자 지정</PresentationFormat>
  <Paragraphs>102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Pretendard Regular</vt:lpstr>
      <vt:lpstr>Pretendard Bold</vt:lpstr>
      <vt:lpstr>Pretendard Medium</vt:lpstr>
      <vt:lpstr>Pretendard SemiBold</vt:lpstr>
      <vt:lpstr>Pretendard Light</vt:lpstr>
      <vt:lpstr>Calibri</vt:lpstr>
      <vt:lpstr>Pretendard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종준 박</cp:lastModifiedBy>
  <cp:revision>3</cp:revision>
  <dcterms:created xsi:type="dcterms:W3CDTF">2006-08-16T00:00:00Z</dcterms:created>
  <dcterms:modified xsi:type="dcterms:W3CDTF">2026-04-16T14:18:17Z</dcterms:modified>
</cp:coreProperties>
</file>